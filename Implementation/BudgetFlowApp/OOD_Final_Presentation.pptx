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9" r:id="rId6"/>
    <p:sldId id="262" r:id="rId7"/>
    <p:sldId id="268" r:id="rId8"/>
    <p:sldId id="270" r:id="rId9"/>
    <p:sldId id="265" r:id="rId10"/>
    <p:sldId id="266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9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5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6365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428625" y="1828270"/>
            <a:ext cx="2800350" cy="233958"/>
          </a:xfrm>
          <a:prstGeom prst="rect">
            <a:avLst/>
          </a:prstGeom>
          <a:solidFill>
            <a:srgbClr val="EF8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28625" y="1828270"/>
            <a:ext cx="2800350" cy="233958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OOAD PROJECT</a:t>
            </a:r>
            <a:endParaRPr lang="en-US" sz="727" dirty="0"/>
          </a:p>
        </p:txBody>
      </p:sp>
      <p:sp>
        <p:nvSpPr>
          <p:cNvPr id="6" name="Text 3"/>
          <p:cNvSpPr/>
          <p:nvPr/>
        </p:nvSpPr>
        <p:spPr>
          <a:xfrm>
            <a:off x="428625" y="2233678"/>
            <a:ext cx="2800350" cy="502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BudgetFlow</a:t>
            </a:r>
            <a:endParaRPr lang="en-US" sz="3294" dirty="0"/>
          </a:p>
        </p:txBody>
      </p:sp>
      <p:sp>
        <p:nvSpPr>
          <p:cNvPr id="7" name="Text 4"/>
          <p:cNvSpPr/>
          <p:nvPr/>
        </p:nvSpPr>
        <p:spPr>
          <a:xfrm>
            <a:off x="428625" y="2879461"/>
            <a:ext cx="2800350" cy="435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BFC0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Intelligent Personal Finance Management System</a:t>
            </a:r>
            <a:endParaRPr lang="en-US" sz="1269" dirty="0"/>
          </a:p>
        </p:txBody>
      </p:sp>
      <p:sp>
        <p:nvSpPr>
          <p:cNvPr id="8" name="Text 5"/>
          <p:cNvSpPr/>
          <p:nvPr/>
        </p:nvSpPr>
        <p:spPr>
          <a:xfrm>
            <a:off x="4229100" y="571500"/>
            <a:ext cx="4343400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4F5D7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COURSE</a:t>
            </a:r>
            <a:endParaRPr lang="en-US" sz="727" dirty="0"/>
          </a:p>
        </p:txBody>
      </p:sp>
      <p:sp>
        <p:nvSpPr>
          <p:cNvPr id="9" name="Text 6"/>
          <p:cNvSpPr/>
          <p:nvPr/>
        </p:nvSpPr>
        <p:spPr>
          <a:xfrm>
            <a:off x="4229100" y="776883"/>
            <a:ext cx="434340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B43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CSCI 6234 — Object-Oriented Design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4229100" y="1209080"/>
            <a:ext cx="4343400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4F5D7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SEMESTER</a:t>
            </a:r>
            <a:endParaRPr lang="en-US" sz="727" dirty="0"/>
          </a:p>
        </p:txBody>
      </p:sp>
      <p:sp>
        <p:nvSpPr>
          <p:cNvPr id="11" name="Text 8"/>
          <p:cNvSpPr/>
          <p:nvPr/>
        </p:nvSpPr>
        <p:spPr>
          <a:xfrm>
            <a:off x="4229100" y="1414463"/>
            <a:ext cx="434340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B43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Spring 2026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4229100" y="1854138"/>
            <a:ext cx="4343400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4F5D7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PROJECT STATUS</a:t>
            </a:r>
            <a:endParaRPr lang="en-US" sz="727" dirty="0"/>
          </a:p>
        </p:txBody>
      </p:sp>
      <p:sp>
        <p:nvSpPr>
          <p:cNvPr id="13" name="Text 10"/>
          <p:cNvSpPr/>
          <p:nvPr/>
        </p:nvSpPr>
        <p:spPr>
          <a:xfrm>
            <a:off x="4229100" y="2059521"/>
            <a:ext cx="434340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B43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Fully Implemented &amp; Tested Prototype</a:t>
            </a:r>
            <a:endParaRPr lang="en-US" sz="1193" dirty="0"/>
          </a:p>
        </p:txBody>
      </p:sp>
      <p:sp>
        <p:nvSpPr>
          <p:cNvPr id="14" name="Text 11"/>
          <p:cNvSpPr/>
          <p:nvPr/>
        </p:nvSpPr>
        <p:spPr>
          <a:xfrm>
            <a:off x="4229100" y="2489569"/>
            <a:ext cx="4343400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4F5D7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DEVELOPMENT TEAM</a:t>
            </a:r>
            <a:endParaRPr lang="en-US" sz="727" dirty="0"/>
          </a:p>
        </p:txBody>
      </p:sp>
      <p:sp>
        <p:nvSpPr>
          <p:cNvPr id="15" name="Shape 12"/>
          <p:cNvSpPr/>
          <p:nvPr/>
        </p:nvSpPr>
        <p:spPr>
          <a:xfrm>
            <a:off x="4229100" y="2780677"/>
            <a:ext cx="2100263" cy="378619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229100" y="2780677"/>
            <a:ext cx="28575" cy="378619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336256" y="2887833"/>
            <a:ext cx="188595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B43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Samarth Shete</a:t>
            </a:r>
            <a:endParaRPr lang="en-US" sz="885" dirty="0"/>
          </a:p>
        </p:txBody>
      </p:sp>
      <p:sp>
        <p:nvSpPr>
          <p:cNvPr id="18" name="Shape 15"/>
          <p:cNvSpPr/>
          <p:nvPr/>
        </p:nvSpPr>
        <p:spPr>
          <a:xfrm>
            <a:off x="6472238" y="2780677"/>
            <a:ext cx="2100263" cy="378619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6472238" y="2780677"/>
            <a:ext cx="28575" cy="378619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579394" y="2887833"/>
            <a:ext cx="188595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B43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Karan Patel</a:t>
            </a:r>
            <a:endParaRPr lang="en-US" sz="885" dirty="0"/>
          </a:p>
        </p:txBody>
      </p:sp>
      <p:sp>
        <p:nvSpPr>
          <p:cNvPr id="21" name="Text 18"/>
          <p:cNvSpPr/>
          <p:nvPr/>
        </p:nvSpPr>
        <p:spPr>
          <a:xfrm>
            <a:off x="4229100" y="4257675"/>
            <a:ext cx="4343400" cy="314325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4F5D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George Washington University</a:t>
            </a:r>
            <a:endParaRPr lang="en-US" sz="88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00038"/>
            <a:ext cx="8286750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EF835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PROJECT VISION</a:t>
            </a:r>
            <a:endParaRPr lang="en-US" sz="727" dirty="0"/>
          </a:p>
        </p:txBody>
      </p:sp>
      <p:sp>
        <p:nvSpPr>
          <p:cNvPr id="4" name="Text 1"/>
          <p:cNvSpPr/>
          <p:nvPr/>
        </p:nvSpPr>
        <p:spPr>
          <a:xfrm>
            <a:off x="428625" y="505420"/>
            <a:ext cx="8286750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kern="0" spc="1" dirty="0">
                <a:solidFill>
                  <a:srgbClr val="1B43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SCALABLE FINANCIAL INTELLIGENCE VIA OOAD</a:t>
            </a:r>
            <a:endParaRPr lang="en-US" sz="1602" dirty="0"/>
          </a:p>
        </p:txBody>
      </p:sp>
      <p:sp>
        <p:nvSpPr>
          <p:cNvPr id="5" name="Shape 2"/>
          <p:cNvSpPr/>
          <p:nvPr/>
        </p:nvSpPr>
        <p:spPr>
          <a:xfrm>
            <a:off x="428625" y="939403"/>
            <a:ext cx="2666991" cy="1373274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28625" y="939403"/>
            <a:ext cx="2666991" cy="28575"/>
          </a:xfrm>
          <a:prstGeom prst="rect">
            <a:avLst/>
          </a:prstGeom>
          <a:solidFill>
            <a:srgbClr val="4F5D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35781" y="1046559"/>
            <a:ext cx="2452678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1B433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PROBLEM STATEMENT</a:t>
            </a:r>
            <a:endParaRPr lang="en-US" sz="734" dirty="0"/>
          </a:p>
        </p:txBody>
      </p:sp>
      <p:sp>
        <p:nvSpPr>
          <p:cNvPr id="8" name="Text 5"/>
          <p:cNvSpPr/>
          <p:nvPr/>
        </p:nvSpPr>
        <p:spPr>
          <a:xfrm>
            <a:off x="535781" y="1276945"/>
            <a:ext cx="2452678" cy="260021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27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Fragmented financial data across multiple platforms</a:t>
            </a:r>
            <a:endParaRPr lang="en-US" sz="727" dirty="0"/>
          </a:p>
        </p:txBody>
      </p:sp>
      <p:sp>
        <p:nvSpPr>
          <p:cNvPr id="9" name="Text 6"/>
          <p:cNvSpPr/>
          <p:nvPr/>
        </p:nvSpPr>
        <p:spPr>
          <a:xfrm>
            <a:off x="535781" y="1579829"/>
            <a:ext cx="2452678" cy="260021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27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Lack of centralized spending and budget visibility</a:t>
            </a:r>
            <a:endParaRPr lang="en-US" sz="727" dirty="0"/>
          </a:p>
        </p:txBody>
      </p:sp>
      <p:sp>
        <p:nvSpPr>
          <p:cNvPr id="10" name="Text 7"/>
          <p:cNvSpPr/>
          <p:nvPr/>
        </p:nvSpPr>
        <p:spPr>
          <a:xfrm>
            <a:off x="535781" y="1882713"/>
            <a:ext cx="2452678" cy="130011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27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Delayed awareness of overspending risks</a:t>
            </a:r>
            <a:endParaRPr lang="en-US" sz="727" dirty="0"/>
          </a:p>
        </p:txBody>
      </p:sp>
      <p:sp>
        <p:nvSpPr>
          <p:cNvPr id="11" name="Shape 8"/>
          <p:cNvSpPr/>
          <p:nvPr/>
        </p:nvSpPr>
        <p:spPr>
          <a:xfrm>
            <a:off x="428625" y="2400774"/>
            <a:ext cx="2666991" cy="1512801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28625" y="2400774"/>
            <a:ext cx="2666991" cy="28575"/>
          </a:xfrm>
          <a:prstGeom prst="rect">
            <a:avLst/>
          </a:prstGeom>
          <a:solidFill>
            <a:srgbClr val="4F5D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35781" y="1276945"/>
            <a:ext cx="60722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EF835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&gt;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535781" y="1579829"/>
            <a:ext cx="60722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EF835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&gt;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535781" y="1882713"/>
            <a:ext cx="60722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EF835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&gt;</a:t>
            </a:r>
            <a:endParaRPr lang="en-US" sz="683" dirty="0"/>
          </a:p>
        </p:txBody>
      </p:sp>
      <p:sp>
        <p:nvSpPr>
          <p:cNvPr id="16" name="Text 13"/>
          <p:cNvSpPr/>
          <p:nvPr/>
        </p:nvSpPr>
        <p:spPr>
          <a:xfrm>
            <a:off x="535781" y="2517446"/>
            <a:ext cx="2452678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1B433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SYSTEM BOUNDARY DEFINITION</a:t>
            </a:r>
            <a:endParaRPr lang="en-US" sz="734" dirty="0"/>
          </a:p>
        </p:txBody>
      </p:sp>
      <p:sp>
        <p:nvSpPr>
          <p:cNvPr id="17" name="Text 14"/>
          <p:cNvSpPr/>
          <p:nvPr/>
        </p:nvSpPr>
        <p:spPr>
          <a:xfrm>
            <a:off x="535781" y="2747832"/>
            <a:ext cx="2452678" cy="260021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In-Scope:</a:t>
            </a:r>
            <a:r>
              <a:rPr lang="en-US" sz="727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Transaction processing, budget management, analytics, AI advisory.</a:t>
            </a:r>
            <a:endParaRPr lang="en-US" sz="683" dirty="0"/>
          </a:p>
        </p:txBody>
      </p:sp>
      <p:sp>
        <p:nvSpPr>
          <p:cNvPr id="18" name="Text 15"/>
          <p:cNvSpPr/>
          <p:nvPr/>
        </p:nvSpPr>
        <p:spPr>
          <a:xfrm>
            <a:off x="535781" y="3050716"/>
            <a:ext cx="2452678" cy="260021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Out-of-Scope:</a:t>
            </a:r>
            <a:r>
              <a:rPr lang="en-US" sz="727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Direct financial transactions (e.g., payments, transfers).</a:t>
            </a:r>
            <a:endParaRPr lang="en-US" sz="683" dirty="0"/>
          </a:p>
        </p:txBody>
      </p:sp>
      <p:sp>
        <p:nvSpPr>
          <p:cNvPr id="19" name="Text 16"/>
          <p:cNvSpPr/>
          <p:nvPr/>
        </p:nvSpPr>
        <p:spPr>
          <a:xfrm>
            <a:off x="535781" y="3353600"/>
            <a:ext cx="2452678" cy="260021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Integration Points:</a:t>
            </a:r>
            <a:r>
              <a:rPr lang="en-US" sz="727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External banking APIs (mocked), LLM services.</a:t>
            </a:r>
            <a:endParaRPr lang="en-US" sz="683" dirty="0"/>
          </a:p>
        </p:txBody>
      </p:sp>
      <p:sp>
        <p:nvSpPr>
          <p:cNvPr id="20" name="Shape 17"/>
          <p:cNvSpPr/>
          <p:nvPr/>
        </p:nvSpPr>
        <p:spPr>
          <a:xfrm>
            <a:off x="428625" y="4011188"/>
            <a:ext cx="2666991" cy="1132284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28625" y="4011188"/>
            <a:ext cx="2666991" cy="28575"/>
          </a:xfrm>
          <a:prstGeom prst="rect">
            <a:avLst/>
          </a:prstGeom>
          <a:solidFill>
            <a:srgbClr val="4F5D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35781" y="2747832"/>
            <a:ext cx="60722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EF835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&gt;</a:t>
            </a:r>
            <a:endParaRPr lang="en-US" sz="683" dirty="0"/>
          </a:p>
        </p:txBody>
      </p:sp>
      <p:sp>
        <p:nvSpPr>
          <p:cNvPr id="23" name="Text 20"/>
          <p:cNvSpPr/>
          <p:nvPr/>
        </p:nvSpPr>
        <p:spPr>
          <a:xfrm>
            <a:off x="535781" y="3050716"/>
            <a:ext cx="60722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EF835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&gt;</a:t>
            </a:r>
            <a:endParaRPr lang="en-US" sz="683" dirty="0"/>
          </a:p>
        </p:txBody>
      </p:sp>
      <p:sp>
        <p:nvSpPr>
          <p:cNvPr id="24" name="Text 21"/>
          <p:cNvSpPr/>
          <p:nvPr/>
        </p:nvSpPr>
        <p:spPr>
          <a:xfrm>
            <a:off x="535781" y="3353600"/>
            <a:ext cx="60722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EF835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&gt;</a:t>
            </a:r>
            <a:endParaRPr lang="en-US" sz="683" dirty="0"/>
          </a:p>
        </p:txBody>
      </p:sp>
      <p:sp>
        <p:nvSpPr>
          <p:cNvPr id="25" name="Text 22"/>
          <p:cNvSpPr/>
          <p:nvPr/>
        </p:nvSpPr>
        <p:spPr>
          <a:xfrm>
            <a:off x="535781" y="4137431"/>
            <a:ext cx="2452678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1B433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CORE OBJECTIVES</a:t>
            </a:r>
            <a:endParaRPr lang="en-US" sz="734" dirty="0"/>
          </a:p>
        </p:txBody>
      </p:sp>
      <p:sp>
        <p:nvSpPr>
          <p:cNvPr id="26" name="Text 23"/>
          <p:cNvSpPr/>
          <p:nvPr/>
        </p:nvSpPr>
        <p:spPr>
          <a:xfrm>
            <a:off x="535781" y="4367817"/>
            <a:ext cx="2452678" cy="130011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27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Build a scalable, intelligent management system</a:t>
            </a:r>
            <a:endParaRPr lang="en-US" sz="727" dirty="0"/>
          </a:p>
        </p:txBody>
      </p:sp>
      <p:sp>
        <p:nvSpPr>
          <p:cNvPr id="27" name="Text 24"/>
          <p:cNvSpPr/>
          <p:nvPr/>
        </p:nvSpPr>
        <p:spPr>
          <a:xfrm>
            <a:off x="535781" y="4540690"/>
            <a:ext cx="2452678" cy="130011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27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Automate transaction import and classification</a:t>
            </a:r>
            <a:endParaRPr lang="en-US" sz="727" dirty="0"/>
          </a:p>
        </p:txBody>
      </p:sp>
      <p:sp>
        <p:nvSpPr>
          <p:cNvPr id="28" name="Text 25"/>
          <p:cNvSpPr/>
          <p:nvPr/>
        </p:nvSpPr>
        <p:spPr>
          <a:xfrm>
            <a:off x="535781" y="4713563"/>
            <a:ext cx="2452678" cy="130011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27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Provide proactive risk control through alerts</a:t>
            </a:r>
            <a:endParaRPr lang="en-US" sz="727" dirty="0"/>
          </a:p>
        </p:txBody>
      </p:sp>
      <p:sp>
        <p:nvSpPr>
          <p:cNvPr id="29" name="Text 26"/>
          <p:cNvSpPr/>
          <p:nvPr/>
        </p:nvSpPr>
        <p:spPr>
          <a:xfrm>
            <a:off x="535781" y="4367817"/>
            <a:ext cx="60722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EF835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&gt;</a:t>
            </a:r>
            <a:endParaRPr lang="en-US" sz="683" dirty="0"/>
          </a:p>
        </p:txBody>
      </p:sp>
      <p:sp>
        <p:nvSpPr>
          <p:cNvPr id="30" name="Text 27"/>
          <p:cNvSpPr/>
          <p:nvPr/>
        </p:nvSpPr>
        <p:spPr>
          <a:xfrm>
            <a:off x="535781" y="4540690"/>
            <a:ext cx="60722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EF835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&gt;</a:t>
            </a:r>
            <a:endParaRPr lang="en-US" sz="683" dirty="0"/>
          </a:p>
        </p:txBody>
      </p:sp>
      <p:sp>
        <p:nvSpPr>
          <p:cNvPr id="31" name="Text 28"/>
          <p:cNvSpPr/>
          <p:nvPr/>
        </p:nvSpPr>
        <p:spPr>
          <a:xfrm>
            <a:off x="535781" y="4713563"/>
            <a:ext cx="60722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EF835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&gt;</a:t>
            </a:r>
            <a:endParaRPr lang="en-US" sz="683" dirty="0"/>
          </a:p>
        </p:txBody>
      </p:sp>
      <p:sp>
        <p:nvSpPr>
          <p:cNvPr id="32" name="Shape 29"/>
          <p:cNvSpPr/>
          <p:nvPr/>
        </p:nvSpPr>
        <p:spPr>
          <a:xfrm>
            <a:off x="3238491" y="939403"/>
            <a:ext cx="2666991" cy="2156352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3238491" y="939403"/>
            <a:ext cx="2666991" cy="28575"/>
          </a:xfrm>
          <a:prstGeom prst="rect">
            <a:avLst/>
          </a:prstGeom>
          <a:solidFill>
            <a:srgbClr val="4F5D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3345647" y="1046559"/>
            <a:ext cx="2452678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1B433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FUNCTIONAL SCOPE</a:t>
            </a:r>
            <a:endParaRPr lang="en-US" sz="734" dirty="0"/>
          </a:p>
        </p:txBody>
      </p:sp>
      <p:sp>
        <p:nvSpPr>
          <p:cNvPr id="35" name="Text 32"/>
          <p:cNvSpPr/>
          <p:nvPr/>
        </p:nvSpPr>
        <p:spPr>
          <a:xfrm>
            <a:off x="3345647" y="1276945"/>
            <a:ext cx="2452678" cy="130011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Accounts Dashboard:</a:t>
            </a:r>
            <a:r>
              <a:rPr lang="en-US" sz="727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Multi-account tracking</a:t>
            </a:r>
            <a:endParaRPr lang="en-US" sz="683" dirty="0"/>
          </a:p>
        </p:txBody>
      </p:sp>
      <p:sp>
        <p:nvSpPr>
          <p:cNvPr id="36" name="Text 33"/>
          <p:cNvSpPr/>
          <p:nvPr/>
        </p:nvSpPr>
        <p:spPr>
          <a:xfrm>
            <a:off x="3345647" y="1449818"/>
            <a:ext cx="2452678" cy="260021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Transaction Engine:</a:t>
            </a:r>
            <a:r>
              <a:rPr lang="en-US" sz="727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CSV Import &amp; Auto-categorization</a:t>
            </a:r>
            <a:endParaRPr lang="en-US" sz="683" dirty="0"/>
          </a:p>
        </p:txBody>
      </p:sp>
      <p:sp>
        <p:nvSpPr>
          <p:cNvPr id="37" name="Text 34"/>
          <p:cNvSpPr/>
          <p:nvPr/>
        </p:nvSpPr>
        <p:spPr>
          <a:xfrm>
            <a:off x="3345647" y="1752702"/>
            <a:ext cx="2452678" cy="130011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Budgeting:</a:t>
            </a:r>
            <a:r>
              <a:rPr lang="en-US" sz="727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Threshold-based monitoring</a:t>
            </a:r>
            <a:endParaRPr lang="en-US" sz="683" dirty="0"/>
          </a:p>
        </p:txBody>
      </p:sp>
      <p:sp>
        <p:nvSpPr>
          <p:cNvPr id="38" name="Text 35"/>
          <p:cNvSpPr/>
          <p:nvPr/>
        </p:nvSpPr>
        <p:spPr>
          <a:xfrm>
            <a:off x="3345647" y="1925575"/>
            <a:ext cx="2452678" cy="130011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Analytics:</a:t>
            </a:r>
            <a:r>
              <a:rPr lang="en-US" sz="727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Temporal trend analysis</a:t>
            </a:r>
            <a:endParaRPr lang="en-US" sz="683" dirty="0"/>
          </a:p>
        </p:txBody>
      </p:sp>
      <p:sp>
        <p:nvSpPr>
          <p:cNvPr id="39" name="Text 36"/>
          <p:cNvSpPr/>
          <p:nvPr/>
        </p:nvSpPr>
        <p:spPr>
          <a:xfrm>
            <a:off x="3345647" y="2098449"/>
            <a:ext cx="2452678" cy="130011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Investment Gating:</a:t>
            </a:r>
            <a:r>
              <a:rPr lang="en-US" sz="727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Health-based logic</a:t>
            </a:r>
            <a:endParaRPr lang="en-US" sz="683" dirty="0"/>
          </a:p>
        </p:txBody>
      </p:sp>
      <p:sp>
        <p:nvSpPr>
          <p:cNvPr id="40" name="Text 37"/>
          <p:cNvSpPr/>
          <p:nvPr/>
        </p:nvSpPr>
        <p:spPr>
          <a:xfrm>
            <a:off x="3345647" y="2271322"/>
            <a:ext cx="2452678" cy="130011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Advisor:</a:t>
            </a:r>
            <a:r>
              <a:rPr lang="en-US" sz="727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LLM-driven financial insights</a:t>
            </a:r>
            <a:endParaRPr lang="en-US" sz="683" dirty="0"/>
          </a:p>
        </p:txBody>
      </p:sp>
      <p:sp>
        <p:nvSpPr>
          <p:cNvPr id="41" name="Shape 38"/>
          <p:cNvSpPr/>
          <p:nvPr/>
        </p:nvSpPr>
        <p:spPr>
          <a:xfrm>
            <a:off x="3238491" y="3188624"/>
            <a:ext cx="2666991" cy="1954904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3238491" y="3188624"/>
            <a:ext cx="2666991" cy="28575"/>
          </a:xfrm>
          <a:prstGeom prst="rect">
            <a:avLst/>
          </a:prstGeom>
          <a:solidFill>
            <a:srgbClr val="4F5D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3345647" y="1276945"/>
            <a:ext cx="60722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EF835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&gt;</a:t>
            </a:r>
            <a:endParaRPr lang="en-US" sz="683" dirty="0"/>
          </a:p>
        </p:txBody>
      </p:sp>
      <p:sp>
        <p:nvSpPr>
          <p:cNvPr id="44" name="Text 41"/>
          <p:cNvSpPr/>
          <p:nvPr/>
        </p:nvSpPr>
        <p:spPr>
          <a:xfrm>
            <a:off x="3345647" y="1449818"/>
            <a:ext cx="60722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EF835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&gt;</a:t>
            </a:r>
            <a:endParaRPr lang="en-US" sz="683" dirty="0"/>
          </a:p>
        </p:txBody>
      </p:sp>
      <p:sp>
        <p:nvSpPr>
          <p:cNvPr id="45" name="Text 42"/>
          <p:cNvSpPr/>
          <p:nvPr/>
        </p:nvSpPr>
        <p:spPr>
          <a:xfrm>
            <a:off x="3345647" y="1752702"/>
            <a:ext cx="60722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EF835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&gt;</a:t>
            </a:r>
            <a:endParaRPr lang="en-US" sz="683" dirty="0"/>
          </a:p>
        </p:txBody>
      </p:sp>
      <p:sp>
        <p:nvSpPr>
          <p:cNvPr id="46" name="Text 43"/>
          <p:cNvSpPr/>
          <p:nvPr/>
        </p:nvSpPr>
        <p:spPr>
          <a:xfrm>
            <a:off x="3345647" y="1925575"/>
            <a:ext cx="60722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EF835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&gt;</a:t>
            </a:r>
            <a:endParaRPr lang="en-US" sz="683" dirty="0"/>
          </a:p>
        </p:txBody>
      </p:sp>
      <p:sp>
        <p:nvSpPr>
          <p:cNvPr id="47" name="Text 44"/>
          <p:cNvSpPr/>
          <p:nvPr/>
        </p:nvSpPr>
        <p:spPr>
          <a:xfrm>
            <a:off x="3345647" y="2098449"/>
            <a:ext cx="60722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EF835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&gt;</a:t>
            </a:r>
            <a:endParaRPr lang="en-US" sz="683" dirty="0"/>
          </a:p>
        </p:txBody>
      </p:sp>
      <p:sp>
        <p:nvSpPr>
          <p:cNvPr id="48" name="Text 45"/>
          <p:cNvSpPr/>
          <p:nvPr/>
        </p:nvSpPr>
        <p:spPr>
          <a:xfrm>
            <a:off x="3345647" y="2271322"/>
            <a:ext cx="60722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EF835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&gt;</a:t>
            </a:r>
            <a:endParaRPr lang="en-US" sz="683" dirty="0"/>
          </a:p>
        </p:txBody>
      </p:sp>
      <p:sp>
        <p:nvSpPr>
          <p:cNvPr id="49" name="Text 46"/>
          <p:cNvSpPr/>
          <p:nvPr/>
        </p:nvSpPr>
        <p:spPr>
          <a:xfrm>
            <a:off x="3345647" y="3310068"/>
            <a:ext cx="2452678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1B433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FUNCTIONAL REQUIREMENTS</a:t>
            </a:r>
            <a:endParaRPr lang="en-US" sz="734" dirty="0"/>
          </a:p>
        </p:txBody>
      </p:sp>
      <p:sp>
        <p:nvSpPr>
          <p:cNvPr id="50" name="Text 47"/>
          <p:cNvSpPr/>
          <p:nvPr/>
        </p:nvSpPr>
        <p:spPr>
          <a:xfrm>
            <a:off x="3345647" y="3540454"/>
            <a:ext cx="2452678" cy="130011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27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Secure user authentication and authorization.</a:t>
            </a:r>
            <a:endParaRPr lang="en-US" sz="727" dirty="0"/>
          </a:p>
        </p:txBody>
      </p:sp>
      <p:sp>
        <p:nvSpPr>
          <p:cNvPr id="51" name="Text 48"/>
          <p:cNvSpPr/>
          <p:nvPr/>
        </p:nvSpPr>
        <p:spPr>
          <a:xfrm>
            <a:off x="3345647" y="3713327"/>
            <a:ext cx="2452678" cy="260021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27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CRUD operations for accounts, transactions, budgets.</a:t>
            </a:r>
            <a:endParaRPr lang="en-US" sz="727" dirty="0"/>
          </a:p>
        </p:txBody>
      </p:sp>
      <p:sp>
        <p:nvSpPr>
          <p:cNvPr id="52" name="Text 49"/>
          <p:cNvSpPr/>
          <p:nvPr/>
        </p:nvSpPr>
        <p:spPr>
          <a:xfrm>
            <a:off x="3345647" y="4016211"/>
            <a:ext cx="2452678" cy="130011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27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Real-time budget tracking and alert generation.</a:t>
            </a:r>
            <a:endParaRPr lang="en-US" sz="727" dirty="0"/>
          </a:p>
        </p:txBody>
      </p:sp>
      <p:sp>
        <p:nvSpPr>
          <p:cNvPr id="53" name="Text 50"/>
          <p:cNvSpPr/>
          <p:nvPr/>
        </p:nvSpPr>
        <p:spPr>
          <a:xfrm>
            <a:off x="3345647" y="4189084"/>
            <a:ext cx="2452678" cy="260021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27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AI-driven financial insights and recommendations.</a:t>
            </a:r>
            <a:endParaRPr lang="en-US" sz="727" dirty="0"/>
          </a:p>
        </p:txBody>
      </p:sp>
      <p:sp>
        <p:nvSpPr>
          <p:cNvPr id="54" name="Text 51"/>
          <p:cNvSpPr/>
          <p:nvPr/>
        </p:nvSpPr>
        <p:spPr>
          <a:xfrm>
            <a:off x="3345647" y="3540454"/>
            <a:ext cx="60722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EF835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&gt;</a:t>
            </a:r>
            <a:endParaRPr lang="en-US" sz="683" dirty="0"/>
          </a:p>
        </p:txBody>
      </p:sp>
      <p:sp>
        <p:nvSpPr>
          <p:cNvPr id="55" name="Text 52"/>
          <p:cNvSpPr/>
          <p:nvPr/>
        </p:nvSpPr>
        <p:spPr>
          <a:xfrm>
            <a:off x="3345647" y="3713327"/>
            <a:ext cx="60722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EF835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&gt;</a:t>
            </a:r>
            <a:endParaRPr lang="en-US" sz="683" dirty="0"/>
          </a:p>
        </p:txBody>
      </p:sp>
      <p:sp>
        <p:nvSpPr>
          <p:cNvPr id="56" name="Text 53"/>
          <p:cNvSpPr/>
          <p:nvPr/>
        </p:nvSpPr>
        <p:spPr>
          <a:xfrm>
            <a:off x="3345647" y="4016211"/>
            <a:ext cx="60722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EF835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&gt;</a:t>
            </a:r>
            <a:endParaRPr lang="en-US" sz="683" dirty="0"/>
          </a:p>
        </p:txBody>
      </p:sp>
      <p:sp>
        <p:nvSpPr>
          <p:cNvPr id="57" name="Text 54"/>
          <p:cNvSpPr/>
          <p:nvPr/>
        </p:nvSpPr>
        <p:spPr>
          <a:xfrm>
            <a:off x="3345647" y="4189084"/>
            <a:ext cx="60722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EF835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&gt;</a:t>
            </a:r>
            <a:endParaRPr lang="en-US" sz="683" dirty="0"/>
          </a:p>
        </p:txBody>
      </p:sp>
      <p:sp>
        <p:nvSpPr>
          <p:cNvPr id="58" name="Shape 55"/>
          <p:cNvSpPr/>
          <p:nvPr/>
        </p:nvSpPr>
        <p:spPr>
          <a:xfrm>
            <a:off x="6048356" y="939403"/>
            <a:ext cx="2667019" cy="2264932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6"/>
          <p:cNvSpPr/>
          <p:nvPr/>
        </p:nvSpPr>
        <p:spPr>
          <a:xfrm>
            <a:off x="6048356" y="939403"/>
            <a:ext cx="2667019" cy="28575"/>
          </a:xfrm>
          <a:prstGeom prst="rect">
            <a:avLst/>
          </a:prstGeom>
          <a:solidFill>
            <a:srgbClr val="EF8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7"/>
          <p:cNvSpPr/>
          <p:nvPr/>
        </p:nvSpPr>
        <p:spPr>
          <a:xfrm>
            <a:off x="6155513" y="1046559"/>
            <a:ext cx="2452706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EF835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WHY OOAD?</a:t>
            </a:r>
            <a:endParaRPr lang="en-US" sz="734" dirty="0"/>
          </a:p>
        </p:txBody>
      </p:sp>
      <p:sp>
        <p:nvSpPr>
          <p:cNvPr id="61" name="Text 58"/>
          <p:cNvSpPr/>
          <p:nvPr/>
        </p:nvSpPr>
        <p:spPr>
          <a:xfrm>
            <a:off x="6155513" y="1276945"/>
            <a:ext cx="2452706" cy="260021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Encapsulation:</a:t>
            </a:r>
            <a:r>
              <a:rPr lang="en-US" sz="727" dirty="0">
                <a:solidFill>
                  <a:srgbClr val="BFC0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Protecting financial entity integrity and state</a:t>
            </a:r>
            <a:endParaRPr lang="en-US" sz="683" dirty="0"/>
          </a:p>
        </p:txBody>
      </p:sp>
      <p:sp>
        <p:nvSpPr>
          <p:cNvPr id="62" name="Text 59"/>
          <p:cNvSpPr/>
          <p:nvPr/>
        </p:nvSpPr>
        <p:spPr>
          <a:xfrm>
            <a:off x="6155513" y="1579829"/>
            <a:ext cx="2452706" cy="260021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Modularity:</a:t>
            </a:r>
            <a:r>
              <a:rPr lang="en-US" sz="727" dirty="0">
                <a:solidFill>
                  <a:srgbClr val="BFC0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Decoupling core services (Analytics, Import, Alerts)</a:t>
            </a:r>
            <a:endParaRPr lang="en-US" sz="683" dirty="0"/>
          </a:p>
        </p:txBody>
      </p:sp>
      <p:sp>
        <p:nvSpPr>
          <p:cNvPr id="63" name="Text 60"/>
          <p:cNvSpPr/>
          <p:nvPr/>
        </p:nvSpPr>
        <p:spPr>
          <a:xfrm>
            <a:off x="6155513" y="1882713"/>
            <a:ext cx="2452706" cy="260021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Extensibility:</a:t>
            </a:r>
            <a:r>
              <a:rPr lang="en-US" sz="727" dirty="0">
                <a:solidFill>
                  <a:srgbClr val="BFC0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Supporting new account types and institutions</a:t>
            </a:r>
            <a:endParaRPr lang="en-US" sz="683" dirty="0"/>
          </a:p>
        </p:txBody>
      </p:sp>
      <p:sp>
        <p:nvSpPr>
          <p:cNvPr id="64" name="Text 61"/>
          <p:cNvSpPr/>
          <p:nvPr/>
        </p:nvSpPr>
        <p:spPr>
          <a:xfrm>
            <a:off x="6155513" y="2185597"/>
            <a:ext cx="2452706" cy="260021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Reusability:</a:t>
            </a:r>
            <a:r>
              <a:rPr lang="en-US" sz="727" dirty="0">
                <a:solidFill>
                  <a:srgbClr val="BFC0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Standardized patterns for transaction processing</a:t>
            </a:r>
            <a:endParaRPr lang="en-US" sz="683" dirty="0"/>
          </a:p>
        </p:txBody>
      </p:sp>
      <p:sp>
        <p:nvSpPr>
          <p:cNvPr id="65" name="Text 62"/>
          <p:cNvSpPr/>
          <p:nvPr/>
        </p:nvSpPr>
        <p:spPr>
          <a:xfrm>
            <a:off x="6155513" y="2488481"/>
            <a:ext cx="2452706" cy="260021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Maintainability:</a:t>
            </a:r>
            <a:r>
              <a:rPr lang="en-US" sz="727" dirty="0">
                <a:solidFill>
                  <a:srgbClr val="BFC0C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Clear separation of concerns via layered design</a:t>
            </a:r>
            <a:endParaRPr lang="en-US" sz="683" dirty="0"/>
          </a:p>
        </p:txBody>
      </p:sp>
      <p:sp>
        <p:nvSpPr>
          <p:cNvPr id="66" name="Shape 63"/>
          <p:cNvSpPr/>
          <p:nvPr/>
        </p:nvSpPr>
        <p:spPr>
          <a:xfrm>
            <a:off x="6048356" y="3297203"/>
            <a:ext cx="2667019" cy="1846325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4"/>
          <p:cNvSpPr/>
          <p:nvPr/>
        </p:nvSpPr>
        <p:spPr>
          <a:xfrm>
            <a:off x="6048356" y="3297203"/>
            <a:ext cx="2667019" cy="28575"/>
          </a:xfrm>
          <a:prstGeom prst="rect">
            <a:avLst/>
          </a:prstGeom>
          <a:solidFill>
            <a:srgbClr val="4F5D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5"/>
          <p:cNvSpPr/>
          <p:nvPr/>
        </p:nvSpPr>
        <p:spPr>
          <a:xfrm>
            <a:off x="6155513" y="1276945"/>
            <a:ext cx="60722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&gt;</a:t>
            </a:r>
            <a:endParaRPr lang="en-US" sz="683" dirty="0"/>
          </a:p>
        </p:txBody>
      </p:sp>
      <p:sp>
        <p:nvSpPr>
          <p:cNvPr id="69" name="Text 66"/>
          <p:cNvSpPr/>
          <p:nvPr/>
        </p:nvSpPr>
        <p:spPr>
          <a:xfrm>
            <a:off x="6155513" y="1579829"/>
            <a:ext cx="60722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&gt;</a:t>
            </a:r>
            <a:endParaRPr lang="en-US" sz="683" dirty="0"/>
          </a:p>
        </p:txBody>
      </p:sp>
      <p:sp>
        <p:nvSpPr>
          <p:cNvPr id="70" name="Text 67"/>
          <p:cNvSpPr/>
          <p:nvPr/>
        </p:nvSpPr>
        <p:spPr>
          <a:xfrm>
            <a:off x="6155513" y="1882713"/>
            <a:ext cx="60722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&gt;</a:t>
            </a:r>
            <a:endParaRPr lang="en-US" sz="683" dirty="0"/>
          </a:p>
        </p:txBody>
      </p:sp>
      <p:sp>
        <p:nvSpPr>
          <p:cNvPr id="71" name="Text 68"/>
          <p:cNvSpPr/>
          <p:nvPr/>
        </p:nvSpPr>
        <p:spPr>
          <a:xfrm>
            <a:off x="6155513" y="2185597"/>
            <a:ext cx="60722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&gt;</a:t>
            </a:r>
            <a:endParaRPr lang="en-US" sz="683" dirty="0"/>
          </a:p>
        </p:txBody>
      </p:sp>
      <p:sp>
        <p:nvSpPr>
          <p:cNvPr id="72" name="Text 69"/>
          <p:cNvSpPr/>
          <p:nvPr/>
        </p:nvSpPr>
        <p:spPr>
          <a:xfrm>
            <a:off x="6155513" y="2488481"/>
            <a:ext cx="60722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&gt;</a:t>
            </a:r>
            <a:endParaRPr lang="en-US" sz="683" dirty="0"/>
          </a:p>
        </p:txBody>
      </p:sp>
      <p:sp>
        <p:nvSpPr>
          <p:cNvPr id="73" name="Text 70"/>
          <p:cNvSpPr/>
          <p:nvPr/>
        </p:nvSpPr>
        <p:spPr>
          <a:xfrm>
            <a:off x="6155513" y="3418647"/>
            <a:ext cx="2452706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1B433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NON-FUNCTIONAL REQUIREMENTS</a:t>
            </a:r>
            <a:endParaRPr lang="en-US" sz="734" dirty="0"/>
          </a:p>
        </p:txBody>
      </p:sp>
      <p:sp>
        <p:nvSpPr>
          <p:cNvPr id="74" name="Text 71"/>
          <p:cNvSpPr/>
          <p:nvPr/>
        </p:nvSpPr>
        <p:spPr>
          <a:xfrm>
            <a:off x="6155513" y="3649033"/>
            <a:ext cx="2452706" cy="260021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Performance:</a:t>
            </a:r>
            <a:r>
              <a:rPr lang="en-US" sz="727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Sub-second response for dashboard loads.</a:t>
            </a:r>
            <a:endParaRPr lang="en-US" sz="683" dirty="0"/>
          </a:p>
        </p:txBody>
      </p:sp>
      <p:sp>
        <p:nvSpPr>
          <p:cNvPr id="75" name="Text 72"/>
          <p:cNvSpPr/>
          <p:nvPr/>
        </p:nvSpPr>
        <p:spPr>
          <a:xfrm>
            <a:off x="6155513" y="3951917"/>
            <a:ext cx="2452706" cy="130011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Scalability:</a:t>
            </a:r>
            <a:r>
              <a:rPr lang="en-US" sz="727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Support for 100k+ concurrent users.</a:t>
            </a:r>
            <a:endParaRPr lang="en-US" sz="683" dirty="0"/>
          </a:p>
        </p:txBody>
      </p:sp>
      <p:sp>
        <p:nvSpPr>
          <p:cNvPr id="76" name="Text 73"/>
          <p:cNvSpPr/>
          <p:nvPr/>
        </p:nvSpPr>
        <p:spPr>
          <a:xfrm>
            <a:off x="6155513" y="4124790"/>
            <a:ext cx="2452706" cy="260021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Security:</a:t>
            </a:r>
            <a:r>
              <a:rPr lang="en-US" sz="727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OAuth2, data encryption (at rest/in transit).</a:t>
            </a:r>
            <a:endParaRPr lang="en-US" sz="683" dirty="0"/>
          </a:p>
        </p:txBody>
      </p:sp>
      <p:sp>
        <p:nvSpPr>
          <p:cNvPr id="77" name="Text 74"/>
          <p:cNvSpPr/>
          <p:nvPr/>
        </p:nvSpPr>
        <p:spPr>
          <a:xfrm>
            <a:off x="6155513" y="4427674"/>
            <a:ext cx="2452706" cy="260021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Reliability:</a:t>
            </a:r>
            <a:r>
              <a:rPr lang="en-US" sz="727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99.9% uptime, idempotent operations.</a:t>
            </a:r>
            <a:endParaRPr lang="en-US" sz="683" dirty="0"/>
          </a:p>
        </p:txBody>
      </p:sp>
      <p:sp>
        <p:nvSpPr>
          <p:cNvPr id="78" name="Text 75"/>
          <p:cNvSpPr/>
          <p:nvPr/>
        </p:nvSpPr>
        <p:spPr>
          <a:xfrm>
            <a:off x="6155513" y="3649033"/>
            <a:ext cx="60722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EF835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&gt;</a:t>
            </a:r>
            <a:endParaRPr lang="en-US" sz="683" dirty="0"/>
          </a:p>
        </p:txBody>
      </p:sp>
      <p:sp>
        <p:nvSpPr>
          <p:cNvPr id="79" name="Text 76"/>
          <p:cNvSpPr/>
          <p:nvPr/>
        </p:nvSpPr>
        <p:spPr>
          <a:xfrm>
            <a:off x="6155513" y="3951917"/>
            <a:ext cx="60722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EF835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&gt;</a:t>
            </a:r>
            <a:endParaRPr lang="en-US" sz="683" dirty="0"/>
          </a:p>
        </p:txBody>
      </p:sp>
      <p:sp>
        <p:nvSpPr>
          <p:cNvPr id="80" name="Text 77"/>
          <p:cNvSpPr/>
          <p:nvPr/>
        </p:nvSpPr>
        <p:spPr>
          <a:xfrm>
            <a:off x="6155513" y="4124790"/>
            <a:ext cx="60722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EF835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&gt;</a:t>
            </a:r>
            <a:endParaRPr lang="en-US" sz="683" dirty="0"/>
          </a:p>
        </p:txBody>
      </p:sp>
      <p:sp>
        <p:nvSpPr>
          <p:cNvPr id="81" name="Text 78"/>
          <p:cNvSpPr/>
          <p:nvPr/>
        </p:nvSpPr>
        <p:spPr>
          <a:xfrm>
            <a:off x="6155513" y="4427674"/>
            <a:ext cx="60722" cy="1299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83" b="1" dirty="0">
                <a:solidFill>
                  <a:srgbClr val="EF835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&gt;</a:t>
            </a:r>
            <a:endParaRPr lang="en-US" sz="68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72213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71475"/>
            <a:ext cx="8286750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EF835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REQUIREMENTS MODEL</a:t>
            </a:r>
            <a:endParaRPr lang="en-US" sz="727" dirty="0"/>
          </a:p>
        </p:txBody>
      </p:sp>
      <p:sp>
        <p:nvSpPr>
          <p:cNvPr id="4" name="Text 1"/>
          <p:cNvSpPr/>
          <p:nvPr/>
        </p:nvSpPr>
        <p:spPr>
          <a:xfrm>
            <a:off x="428625" y="576858"/>
            <a:ext cx="8286750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kern="0" spc="1" dirty="0">
                <a:solidFill>
                  <a:srgbClr val="1B43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 CASE ANALYSIS &amp; SYSTEM BOUNDARIES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428625" y="2006501"/>
            <a:ext cx="4000500" cy="794742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4" dirty="0">
                <a:solidFill>
                  <a:srgbClr val="4F5D7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 INSERT USE CASE DIAGRAM ]
Visualizing interactions between the Primary Actor (User) and core system functionalities.</a:t>
            </a:r>
            <a:endParaRPr lang="en-US" sz="834" dirty="0"/>
          </a:p>
        </p:txBody>
      </p:sp>
      <p:sp>
        <p:nvSpPr>
          <p:cNvPr id="7" name="Text 4"/>
          <p:cNvSpPr/>
          <p:nvPr/>
        </p:nvSpPr>
        <p:spPr>
          <a:xfrm>
            <a:off x="4638399" y="898185"/>
            <a:ext cx="4000500" cy="212527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B433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ACTORS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4638399" y="1217868"/>
            <a:ext cx="4000500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User (Primary):</a:t>
            </a:r>
            <a:r>
              <a:rPr lang="en-US" sz="834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Individual managing personal finances.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4638399" y="1217868"/>
            <a:ext cx="4643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EF835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•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4638399" y="1592189"/>
            <a:ext cx="4000500" cy="212527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B433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CORE USE CASES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4638399" y="1911872"/>
            <a:ext cx="1964531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Authenticate User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4638399" y="2129031"/>
            <a:ext cx="1964531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Manage Accounts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4638399" y="2346190"/>
            <a:ext cx="1964531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Import Transactions</a:t>
            </a:r>
            <a:endParaRPr lang="en-US" sz="834" dirty="0"/>
          </a:p>
        </p:txBody>
      </p:sp>
      <p:sp>
        <p:nvSpPr>
          <p:cNvPr id="14" name="Text 11"/>
          <p:cNvSpPr/>
          <p:nvPr/>
        </p:nvSpPr>
        <p:spPr>
          <a:xfrm>
            <a:off x="4638399" y="2563349"/>
            <a:ext cx="1964531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Categorize Expenses</a:t>
            </a:r>
            <a:endParaRPr lang="en-US" sz="834" dirty="0"/>
          </a:p>
        </p:txBody>
      </p:sp>
      <p:sp>
        <p:nvSpPr>
          <p:cNvPr id="15" name="Text 12"/>
          <p:cNvSpPr/>
          <p:nvPr/>
        </p:nvSpPr>
        <p:spPr>
          <a:xfrm>
            <a:off x="4638399" y="1911872"/>
            <a:ext cx="4643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EF835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•</a:t>
            </a:r>
            <a:endParaRPr lang="en-US" sz="784" dirty="0"/>
          </a:p>
        </p:txBody>
      </p:sp>
      <p:sp>
        <p:nvSpPr>
          <p:cNvPr id="16" name="Text 13"/>
          <p:cNvSpPr/>
          <p:nvPr/>
        </p:nvSpPr>
        <p:spPr>
          <a:xfrm>
            <a:off x="4638399" y="2129031"/>
            <a:ext cx="4643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EF835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•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4638399" y="2346190"/>
            <a:ext cx="4643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EF835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•</a:t>
            </a:r>
            <a:endParaRPr lang="en-US" sz="784" dirty="0"/>
          </a:p>
        </p:txBody>
      </p:sp>
      <p:sp>
        <p:nvSpPr>
          <p:cNvPr id="18" name="Text 15"/>
          <p:cNvSpPr/>
          <p:nvPr/>
        </p:nvSpPr>
        <p:spPr>
          <a:xfrm>
            <a:off x="4638399" y="2563349"/>
            <a:ext cx="4643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EF835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•</a:t>
            </a:r>
            <a:endParaRPr lang="en-US" sz="784" dirty="0"/>
          </a:p>
        </p:txBody>
      </p:sp>
      <p:sp>
        <p:nvSpPr>
          <p:cNvPr id="19" name="Text 16"/>
          <p:cNvSpPr/>
          <p:nvPr/>
        </p:nvSpPr>
        <p:spPr>
          <a:xfrm>
            <a:off x="6674368" y="1911872"/>
            <a:ext cx="1964531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Set Budget Thresholds</a:t>
            </a:r>
            <a:endParaRPr lang="en-US" sz="834" dirty="0"/>
          </a:p>
        </p:txBody>
      </p:sp>
      <p:sp>
        <p:nvSpPr>
          <p:cNvPr id="20" name="Text 17"/>
          <p:cNvSpPr/>
          <p:nvPr/>
        </p:nvSpPr>
        <p:spPr>
          <a:xfrm>
            <a:off x="6674368" y="2129031"/>
            <a:ext cx="1964531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Receive Budget Alerts</a:t>
            </a:r>
            <a:endParaRPr lang="en-US" sz="834" dirty="0"/>
          </a:p>
        </p:txBody>
      </p:sp>
      <p:sp>
        <p:nvSpPr>
          <p:cNvPr id="21" name="Text 18"/>
          <p:cNvSpPr/>
          <p:nvPr/>
        </p:nvSpPr>
        <p:spPr>
          <a:xfrm>
            <a:off x="6674368" y="2346190"/>
            <a:ext cx="1964531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View Analytics</a:t>
            </a:r>
            <a:endParaRPr lang="en-US" sz="834" dirty="0"/>
          </a:p>
        </p:txBody>
      </p:sp>
      <p:sp>
        <p:nvSpPr>
          <p:cNvPr id="22" name="Text 19"/>
          <p:cNvSpPr/>
          <p:nvPr/>
        </p:nvSpPr>
        <p:spPr>
          <a:xfrm>
            <a:off x="6674368" y="1911872"/>
            <a:ext cx="4643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EF835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•</a:t>
            </a:r>
            <a:endParaRPr lang="en-US" sz="784" dirty="0"/>
          </a:p>
        </p:txBody>
      </p:sp>
      <p:sp>
        <p:nvSpPr>
          <p:cNvPr id="23" name="Text 20"/>
          <p:cNvSpPr/>
          <p:nvPr/>
        </p:nvSpPr>
        <p:spPr>
          <a:xfrm>
            <a:off x="6674368" y="2129031"/>
            <a:ext cx="4643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EF835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•</a:t>
            </a:r>
            <a:endParaRPr lang="en-US" sz="784" dirty="0"/>
          </a:p>
        </p:txBody>
      </p:sp>
      <p:sp>
        <p:nvSpPr>
          <p:cNvPr id="24" name="Text 21"/>
          <p:cNvSpPr/>
          <p:nvPr/>
        </p:nvSpPr>
        <p:spPr>
          <a:xfrm>
            <a:off x="6674368" y="2346190"/>
            <a:ext cx="4643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EF835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•</a:t>
            </a:r>
            <a:endParaRPr lang="en-US" sz="784" dirty="0"/>
          </a:p>
        </p:txBody>
      </p:sp>
      <p:sp>
        <p:nvSpPr>
          <p:cNvPr id="25" name="Text 22"/>
          <p:cNvSpPr/>
          <p:nvPr/>
        </p:nvSpPr>
        <p:spPr>
          <a:xfrm>
            <a:off x="4638399" y="2994820"/>
            <a:ext cx="4000500" cy="212527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B433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SYSTEM RESPONSIBILITIES</a:t>
            </a:r>
            <a:endParaRPr lang="en-US" sz="784" dirty="0"/>
          </a:p>
        </p:txBody>
      </p:sp>
      <p:sp>
        <p:nvSpPr>
          <p:cNvPr id="26" name="Text 23"/>
          <p:cNvSpPr/>
          <p:nvPr/>
        </p:nvSpPr>
        <p:spPr>
          <a:xfrm>
            <a:off x="4638399" y="3314503"/>
            <a:ext cx="4000500" cy="32001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 Persistence:</a:t>
            </a:r>
            <a:r>
              <a:rPr lang="en-US" sz="834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Ensure ACID compliance for all financial transactions and user data via PostgreSQL.</a:t>
            </a:r>
            <a:endParaRPr lang="en-US" sz="784" dirty="0"/>
          </a:p>
        </p:txBody>
      </p:sp>
      <p:sp>
        <p:nvSpPr>
          <p:cNvPr id="27" name="Text 24"/>
          <p:cNvSpPr/>
          <p:nvPr/>
        </p:nvSpPr>
        <p:spPr>
          <a:xfrm>
            <a:off x="4638399" y="3691671"/>
            <a:ext cx="4000500" cy="32001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Transaction Processing:</a:t>
            </a:r>
            <a:r>
              <a:rPr lang="en-US" sz="834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Implement robust classification and normalization algorithms for diverse data sources.</a:t>
            </a:r>
            <a:endParaRPr lang="en-US" sz="784" dirty="0"/>
          </a:p>
        </p:txBody>
      </p:sp>
      <p:sp>
        <p:nvSpPr>
          <p:cNvPr id="28" name="Text 25"/>
          <p:cNvSpPr/>
          <p:nvPr/>
        </p:nvSpPr>
        <p:spPr>
          <a:xfrm>
            <a:off x="4638399" y="4068838"/>
            <a:ext cx="4000500" cy="32001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Real-time Monitoring:</a:t>
            </a:r>
            <a:r>
              <a:rPr lang="en-US" sz="834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Continuously evaluate spending patterns against defined budget thresholds for proactive alerting.</a:t>
            </a:r>
            <a:endParaRPr lang="en-US" sz="784" dirty="0"/>
          </a:p>
        </p:txBody>
      </p:sp>
      <p:sp>
        <p:nvSpPr>
          <p:cNvPr id="29" name="Text 26"/>
          <p:cNvSpPr/>
          <p:nvPr/>
        </p:nvSpPr>
        <p:spPr>
          <a:xfrm>
            <a:off x="4638399" y="4446006"/>
            <a:ext cx="4000500" cy="32001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AI-driven Intelligence:</a:t>
            </a:r>
            <a:r>
              <a:rPr lang="en-US" sz="834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Integrate LLM for contextual financial advice and Monte Carlo simulations for investment insights.</a:t>
            </a:r>
            <a:endParaRPr lang="en-US" sz="784" dirty="0"/>
          </a:p>
        </p:txBody>
      </p:sp>
      <p:sp>
        <p:nvSpPr>
          <p:cNvPr id="30" name="Text 27"/>
          <p:cNvSpPr/>
          <p:nvPr/>
        </p:nvSpPr>
        <p:spPr>
          <a:xfrm>
            <a:off x="4638399" y="4823174"/>
            <a:ext cx="4000500" cy="32001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User Isolation:</a:t>
            </a:r>
            <a:r>
              <a:rPr lang="en-US" sz="834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Enforce strict multi-tenancy for data segregation and privacy.</a:t>
            </a:r>
            <a:endParaRPr lang="en-US" sz="784" dirty="0"/>
          </a:p>
        </p:txBody>
      </p:sp>
      <p:sp>
        <p:nvSpPr>
          <p:cNvPr id="31" name="Text 28"/>
          <p:cNvSpPr/>
          <p:nvPr/>
        </p:nvSpPr>
        <p:spPr>
          <a:xfrm>
            <a:off x="4638399" y="3314503"/>
            <a:ext cx="4643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EF835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•</a:t>
            </a:r>
            <a:endParaRPr lang="en-US" sz="784" dirty="0"/>
          </a:p>
        </p:txBody>
      </p:sp>
      <p:sp>
        <p:nvSpPr>
          <p:cNvPr id="32" name="Text 29"/>
          <p:cNvSpPr/>
          <p:nvPr/>
        </p:nvSpPr>
        <p:spPr>
          <a:xfrm>
            <a:off x="4638399" y="3691671"/>
            <a:ext cx="4643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EF835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•</a:t>
            </a:r>
            <a:endParaRPr lang="en-US" sz="784" dirty="0"/>
          </a:p>
        </p:txBody>
      </p:sp>
      <p:sp>
        <p:nvSpPr>
          <p:cNvPr id="33" name="Text 30"/>
          <p:cNvSpPr/>
          <p:nvPr/>
        </p:nvSpPr>
        <p:spPr>
          <a:xfrm>
            <a:off x="4638399" y="4068838"/>
            <a:ext cx="4643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EF835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•</a:t>
            </a:r>
            <a:endParaRPr lang="en-US" sz="784" dirty="0"/>
          </a:p>
        </p:txBody>
      </p:sp>
      <p:sp>
        <p:nvSpPr>
          <p:cNvPr id="34" name="Text 31"/>
          <p:cNvSpPr/>
          <p:nvPr/>
        </p:nvSpPr>
        <p:spPr>
          <a:xfrm>
            <a:off x="4638399" y="4446006"/>
            <a:ext cx="4643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EF835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•</a:t>
            </a:r>
            <a:endParaRPr lang="en-US" sz="784" dirty="0"/>
          </a:p>
        </p:txBody>
      </p:sp>
      <p:sp>
        <p:nvSpPr>
          <p:cNvPr id="35" name="Text 32"/>
          <p:cNvSpPr/>
          <p:nvPr/>
        </p:nvSpPr>
        <p:spPr>
          <a:xfrm>
            <a:off x="4638399" y="4823174"/>
            <a:ext cx="4643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EF835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•</a:t>
            </a:r>
            <a:endParaRPr lang="en-US" sz="784" dirty="0"/>
          </a:p>
        </p:txBody>
      </p:sp>
      <p:sp>
        <p:nvSpPr>
          <p:cNvPr id="36" name="Text 33"/>
          <p:cNvSpPr/>
          <p:nvPr/>
        </p:nvSpPr>
        <p:spPr>
          <a:xfrm>
            <a:off x="414335" y="3742316"/>
            <a:ext cx="4000500" cy="212527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B433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KEY REQUIREMENTS INSIGHTS</a:t>
            </a:r>
            <a:endParaRPr lang="en-US" sz="784" dirty="0"/>
          </a:p>
        </p:txBody>
      </p:sp>
      <p:sp>
        <p:nvSpPr>
          <p:cNvPr id="37" name="Text 34"/>
          <p:cNvSpPr/>
          <p:nvPr/>
        </p:nvSpPr>
        <p:spPr>
          <a:xfrm>
            <a:off x="414335" y="4061999"/>
            <a:ext cx="4000500" cy="32001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Problem-Driven Use Cases:</a:t>
            </a:r>
            <a:r>
              <a:rPr lang="en-US" sz="834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Each use case directly addresses a pain point identified in the problem statement.</a:t>
            </a:r>
            <a:endParaRPr lang="en-US" sz="784" dirty="0"/>
          </a:p>
        </p:txBody>
      </p:sp>
      <p:sp>
        <p:nvSpPr>
          <p:cNvPr id="38" name="Text 35"/>
          <p:cNvSpPr/>
          <p:nvPr/>
        </p:nvSpPr>
        <p:spPr>
          <a:xfrm>
            <a:off x="414335" y="4439167"/>
            <a:ext cx="4000500" cy="32001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Scalability Focus:</a:t>
            </a:r>
            <a:r>
              <a:rPr lang="en-US" sz="834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Requirements anticipate growth in user base and transaction volume.</a:t>
            </a:r>
            <a:endParaRPr lang="en-US" sz="784" dirty="0"/>
          </a:p>
        </p:txBody>
      </p:sp>
      <p:sp>
        <p:nvSpPr>
          <p:cNvPr id="39" name="Text 36"/>
          <p:cNvSpPr/>
          <p:nvPr/>
        </p:nvSpPr>
        <p:spPr>
          <a:xfrm>
            <a:off x="414335" y="4816334"/>
            <a:ext cx="4000500" cy="32001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Security-First:</a:t>
            </a:r>
            <a:r>
              <a:rPr lang="en-US" sz="834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Implicit requirements for data encryption and access control underpin all functional specifications.</a:t>
            </a:r>
            <a:endParaRPr lang="en-US" sz="784" dirty="0"/>
          </a:p>
        </p:txBody>
      </p:sp>
      <p:sp>
        <p:nvSpPr>
          <p:cNvPr id="40" name="Text 37"/>
          <p:cNvSpPr/>
          <p:nvPr/>
        </p:nvSpPr>
        <p:spPr>
          <a:xfrm>
            <a:off x="414335" y="4061999"/>
            <a:ext cx="4643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EF835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•</a:t>
            </a:r>
            <a:endParaRPr lang="en-US" sz="784" dirty="0"/>
          </a:p>
        </p:txBody>
      </p:sp>
      <p:sp>
        <p:nvSpPr>
          <p:cNvPr id="41" name="Text 38"/>
          <p:cNvSpPr/>
          <p:nvPr/>
        </p:nvSpPr>
        <p:spPr>
          <a:xfrm>
            <a:off x="414335" y="4439167"/>
            <a:ext cx="4643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EF835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•</a:t>
            </a:r>
            <a:endParaRPr lang="en-US" sz="784" dirty="0"/>
          </a:p>
        </p:txBody>
      </p:sp>
      <p:sp>
        <p:nvSpPr>
          <p:cNvPr id="42" name="Text 39"/>
          <p:cNvSpPr/>
          <p:nvPr/>
        </p:nvSpPr>
        <p:spPr>
          <a:xfrm>
            <a:off x="414335" y="4816334"/>
            <a:ext cx="46434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EF835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•</a:t>
            </a:r>
            <a:endParaRPr lang="en-US" sz="784" dirty="0"/>
          </a:p>
        </p:txBody>
      </p:sp>
      <p:pic>
        <p:nvPicPr>
          <p:cNvPr id="43" name="Picture 2">
            <a:extLst>
              <a:ext uri="{FF2B5EF4-FFF2-40B4-BE49-F238E27FC236}">
                <a16:creationId xmlns:a16="http://schemas.microsoft.com/office/drawing/2014/main" id="{E93A4E83-A750-7004-5527-C1E8845011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335" y="1024569"/>
            <a:ext cx="3856390" cy="2609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00038"/>
            <a:ext cx="8286750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EF835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ACTIVITY MODEL</a:t>
            </a:r>
            <a:endParaRPr lang="en-US" sz="727" dirty="0"/>
          </a:p>
        </p:txBody>
      </p:sp>
      <p:sp>
        <p:nvSpPr>
          <p:cNvPr id="4" name="Text 1"/>
          <p:cNvSpPr/>
          <p:nvPr/>
        </p:nvSpPr>
        <p:spPr>
          <a:xfrm>
            <a:off x="428625" y="505420"/>
            <a:ext cx="8286750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kern="0" spc="1" dirty="0">
                <a:solidFill>
                  <a:srgbClr val="1B43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FUNCTIONAL WORKFLOWS &amp; DYNAMIC BEHAVIOR</a:t>
            </a:r>
            <a:endParaRPr lang="en-US" sz="1602" dirty="0"/>
          </a:p>
        </p:txBody>
      </p:sp>
      <p:sp>
        <p:nvSpPr>
          <p:cNvPr id="5" name="Shape 2"/>
          <p:cNvSpPr/>
          <p:nvPr/>
        </p:nvSpPr>
        <p:spPr>
          <a:xfrm>
            <a:off x="428625" y="889397"/>
            <a:ext cx="2724141" cy="1141214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28625" y="889397"/>
            <a:ext cx="2724141" cy="28575"/>
          </a:xfrm>
          <a:prstGeom prst="rect">
            <a:avLst/>
          </a:prstGeom>
          <a:solidFill>
            <a:srgbClr val="4F5D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00063" y="960834"/>
            <a:ext cx="2581266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1B433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TRANSACTION IMPORT</a:t>
            </a:r>
            <a:endParaRPr lang="en-US" sz="734" dirty="0"/>
          </a:p>
        </p:txBody>
      </p:sp>
      <p:sp>
        <p:nvSpPr>
          <p:cNvPr id="8" name="Text 5"/>
          <p:cNvSpPr/>
          <p:nvPr/>
        </p:nvSpPr>
        <p:spPr>
          <a:xfrm>
            <a:off x="500063" y="1176933"/>
            <a:ext cx="96441" cy="112514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34" b="1" dirty="0">
                <a:solidFill>
                  <a:srgbClr val="EF835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</a:t>
            </a:r>
            <a:endParaRPr lang="en-US" sz="534" dirty="0"/>
          </a:p>
        </p:txBody>
      </p:sp>
      <p:sp>
        <p:nvSpPr>
          <p:cNvPr id="9" name="Text 6"/>
          <p:cNvSpPr/>
          <p:nvPr/>
        </p:nvSpPr>
        <p:spPr>
          <a:xfrm>
            <a:off x="653653" y="1176933"/>
            <a:ext cx="118586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User Initiates Upload/Sync</a:t>
            </a:r>
            <a:endParaRPr lang="en-US" sz="674" dirty="0"/>
          </a:p>
        </p:txBody>
      </p:sp>
      <p:sp>
        <p:nvSpPr>
          <p:cNvPr id="10" name="Text 7"/>
          <p:cNvSpPr/>
          <p:nvPr/>
        </p:nvSpPr>
        <p:spPr>
          <a:xfrm>
            <a:off x="500063" y="1335881"/>
            <a:ext cx="96441" cy="112514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34" b="1" dirty="0">
                <a:solidFill>
                  <a:srgbClr val="EF835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</a:t>
            </a:r>
            <a:endParaRPr lang="en-US" sz="534" dirty="0"/>
          </a:p>
        </p:txBody>
      </p:sp>
      <p:sp>
        <p:nvSpPr>
          <p:cNvPr id="11" name="Text 8"/>
          <p:cNvSpPr/>
          <p:nvPr/>
        </p:nvSpPr>
        <p:spPr>
          <a:xfrm>
            <a:off x="653653" y="1335881"/>
            <a:ext cx="183058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System Validates Data Integrity &amp; Format</a:t>
            </a:r>
            <a:endParaRPr lang="en-US" sz="674" dirty="0"/>
          </a:p>
        </p:txBody>
      </p:sp>
      <p:sp>
        <p:nvSpPr>
          <p:cNvPr id="12" name="Text 9"/>
          <p:cNvSpPr/>
          <p:nvPr/>
        </p:nvSpPr>
        <p:spPr>
          <a:xfrm>
            <a:off x="500063" y="1494830"/>
            <a:ext cx="96441" cy="112514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34" b="1" dirty="0">
                <a:solidFill>
                  <a:srgbClr val="EF835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</a:t>
            </a:r>
            <a:endParaRPr lang="en-US" sz="534" dirty="0"/>
          </a:p>
        </p:txBody>
      </p:sp>
      <p:sp>
        <p:nvSpPr>
          <p:cNvPr id="13" name="Text 10"/>
          <p:cNvSpPr/>
          <p:nvPr/>
        </p:nvSpPr>
        <p:spPr>
          <a:xfrm>
            <a:off x="653653" y="1494830"/>
            <a:ext cx="109299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Worker Parses &amp; Maps to</a:t>
            </a:r>
            <a:endParaRPr lang="en-US" sz="674" dirty="0"/>
          </a:p>
        </p:txBody>
      </p:sp>
      <p:sp>
        <p:nvSpPr>
          <p:cNvPr id="14" name="Text 11"/>
          <p:cNvSpPr/>
          <p:nvPr/>
        </p:nvSpPr>
        <p:spPr>
          <a:xfrm>
            <a:off x="1746647" y="1494830"/>
            <a:ext cx="61293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2D314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Transaction</a:t>
            </a:r>
            <a:endParaRPr lang="en-US" sz="674" dirty="0"/>
          </a:p>
        </p:txBody>
      </p:sp>
      <p:sp>
        <p:nvSpPr>
          <p:cNvPr id="15" name="Text 12"/>
          <p:cNvSpPr/>
          <p:nvPr/>
        </p:nvSpPr>
        <p:spPr>
          <a:xfrm>
            <a:off x="2359586" y="1494830"/>
            <a:ext cx="27324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Entity</a:t>
            </a:r>
            <a:endParaRPr lang="en-US" sz="674" dirty="0"/>
          </a:p>
        </p:txBody>
      </p:sp>
      <p:sp>
        <p:nvSpPr>
          <p:cNvPr id="16" name="Text 13"/>
          <p:cNvSpPr/>
          <p:nvPr/>
        </p:nvSpPr>
        <p:spPr>
          <a:xfrm>
            <a:off x="500063" y="1653778"/>
            <a:ext cx="96441" cy="112514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34" b="1" dirty="0">
                <a:solidFill>
                  <a:srgbClr val="EF835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</a:t>
            </a:r>
            <a:endParaRPr lang="en-US" sz="534" dirty="0"/>
          </a:p>
        </p:txBody>
      </p:sp>
      <p:sp>
        <p:nvSpPr>
          <p:cNvPr id="17" name="Text 14"/>
          <p:cNvSpPr/>
          <p:nvPr/>
        </p:nvSpPr>
        <p:spPr>
          <a:xfrm>
            <a:off x="653653" y="1653778"/>
            <a:ext cx="202346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System Commits to Persistent Storage (ACID)</a:t>
            </a:r>
            <a:endParaRPr lang="en-US" sz="674" dirty="0"/>
          </a:p>
        </p:txBody>
      </p:sp>
      <p:sp>
        <p:nvSpPr>
          <p:cNvPr id="18" name="Shape 15"/>
          <p:cNvSpPr/>
          <p:nvPr/>
        </p:nvSpPr>
        <p:spPr>
          <a:xfrm>
            <a:off x="3209916" y="889397"/>
            <a:ext cx="2724141" cy="1141214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3209916" y="889397"/>
            <a:ext cx="2724141" cy="28575"/>
          </a:xfrm>
          <a:prstGeom prst="rect">
            <a:avLst/>
          </a:prstGeom>
          <a:solidFill>
            <a:srgbClr val="4F5D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281353" y="960834"/>
            <a:ext cx="2581266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1B433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DESIGN JUSTIFICATION: ASYNC WORKERS</a:t>
            </a:r>
            <a:endParaRPr lang="en-US" sz="734" dirty="0"/>
          </a:p>
        </p:txBody>
      </p:sp>
      <p:sp>
        <p:nvSpPr>
          <p:cNvPr id="21" name="Text 18"/>
          <p:cNvSpPr/>
          <p:nvPr/>
        </p:nvSpPr>
        <p:spPr>
          <a:xfrm>
            <a:off x="3281353" y="1176933"/>
            <a:ext cx="48220" cy="112514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34" b="1" dirty="0">
                <a:solidFill>
                  <a:srgbClr val="EF835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•</a:t>
            </a:r>
            <a:endParaRPr lang="en-US" sz="534" dirty="0"/>
          </a:p>
        </p:txBody>
      </p:sp>
      <p:sp>
        <p:nvSpPr>
          <p:cNvPr id="22" name="Text 19"/>
          <p:cNvSpPr/>
          <p:nvPr/>
        </p:nvSpPr>
        <p:spPr>
          <a:xfrm>
            <a:off x="3386724" y="1176933"/>
            <a:ext cx="640928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Non-blocking UI:</a:t>
            </a:r>
            <a:endParaRPr lang="en-US" sz="634" dirty="0"/>
          </a:p>
        </p:txBody>
      </p:sp>
      <p:sp>
        <p:nvSpPr>
          <p:cNvPr id="23" name="Text 20"/>
          <p:cNvSpPr/>
          <p:nvPr/>
        </p:nvSpPr>
        <p:spPr>
          <a:xfrm>
            <a:off x="4027652" y="1176933"/>
            <a:ext cx="1834967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Prevents UI freeze during long-running imports.</a:t>
            </a:r>
            <a:endParaRPr lang="en-US" sz="674" dirty="0"/>
          </a:p>
        </p:txBody>
      </p:sp>
      <p:sp>
        <p:nvSpPr>
          <p:cNvPr id="24" name="Text 21"/>
          <p:cNvSpPr/>
          <p:nvPr/>
        </p:nvSpPr>
        <p:spPr>
          <a:xfrm>
            <a:off x="3281353" y="1451967"/>
            <a:ext cx="48220" cy="112514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34" b="1" dirty="0">
                <a:solidFill>
                  <a:srgbClr val="EF835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•</a:t>
            </a:r>
            <a:endParaRPr lang="en-US" sz="534" dirty="0"/>
          </a:p>
        </p:txBody>
      </p:sp>
      <p:sp>
        <p:nvSpPr>
          <p:cNvPr id="25" name="Text 22"/>
          <p:cNvSpPr/>
          <p:nvPr/>
        </p:nvSpPr>
        <p:spPr>
          <a:xfrm>
            <a:off x="3386724" y="1451967"/>
            <a:ext cx="50542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Scalability:</a:t>
            </a:r>
            <a:endParaRPr lang="en-US" sz="634" dirty="0"/>
          </a:p>
        </p:txBody>
      </p:sp>
      <p:sp>
        <p:nvSpPr>
          <p:cNvPr id="26" name="Text 23"/>
          <p:cNvSpPr/>
          <p:nvPr/>
        </p:nvSpPr>
        <p:spPr>
          <a:xfrm>
            <a:off x="3892144" y="1451967"/>
            <a:ext cx="1970475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Distributes load, processes multiple imports concurrently.</a:t>
            </a:r>
            <a:endParaRPr lang="en-US" sz="674" dirty="0"/>
          </a:p>
        </p:txBody>
      </p:sp>
      <p:sp>
        <p:nvSpPr>
          <p:cNvPr id="27" name="Text 24"/>
          <p:cNvSpPr/>
          <p:nvPr/>
        </p:nvSpPr>
        <p:spPr>
          <a:xfrm>
            <a:off x="3281353" y="1727002"/>
            <a:ext cx="48220" cy="112514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34" b="1" dirty="0">
                <a:solidFill>
                  <a:srgbClr val="EF835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•</a:t>
            </a:r>
            <a:endParaRPr lang="en-US" sz="534" dirty="0"/>
          </a:p>
        </p:txBody>
      </p:sp>
      <p:sp>
        <p:nvSpPr>
          <p:cNvPr id="28" name="Text 25"/>
          <p:cNvSpPr/>
          <p:nvPr/>
        </p:nvSpPr>
        <p:spPr>
          <a:xfrm>
            <a:off x="3386724" y="1727002"/>
            <a:ext cx="48220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Resilience:</a:t>
            </a:r>
            <a:endParaRPr lang="en-US" sz="634" dirty="0"/>
          </a:p>
        </p:txBody>
      </p:sp>
      <p:sp>
        <p:nvSpPr>
          <p:cNvPr id="29" name="Text 26"/>
          <p:cNvSpPr/>
          <p:nvPr/>
        </p:nvSpPr>
        <p:spPr>
          <a:xfrm>
            <a:off x="3868927" y="1727002"/>
            <a:ext cx="1993692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Retries failed jobs, ensures eventual consistency.</a:t>
            </a:r>
            <a:endParaRPr lang="en-US" sz="674" dirty="0"/>
          </a:p>
        </p:txBody>
      </p:sp>
      <p:sp>
        <p:nvSpPr>
          <p:cNvPr id="30" name="Shape 27"/>
          <p:cNvSpPr/>
          <p:nvPr/>
        </p:nvSpPr>
        <p:spPr>
          <a:xfrm>
            <a:off x="5991206" y="889397"/>
            <a:ext cx="2724169" cy="1112639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5991206" y="889397"/>
            <a:ext cx="2724169" cy="28575"/>
          </a:xfrm>
          <a:prstGeom prst="rect">
            <a:avLst/>
          </a:prstGeom>
          <a:solidFill>
            <a:srgbClr val="4F5D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6062644" y="960834"/>
            <a:ext cx="2581294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1B433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CATEGORIZATION LOGIC</a:t>
            </a:r>
            <a:endParaRPr lang="en-US" sz="734" dirty="0"/>
          </a:p>
        </p:txBody>
      </p:sp>
      <p:sp>
        <p:nvSpPr>
          <p:cNvPr id="33" name="Text 30"/>
          <p:cNvSpPr/>
          <p:nvPr/>
        </p:nvSpPr>
        <p:spPr>
          <a:xfrm>
            <a:off x="6062644" y="1176933"/>
            <a:ext cx="96441" cy="112514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34" b="1" dirty="0">
                <a:solidFill>
                  <a:srgbClr val="EF835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</a:t>
            </a:r>
            <a:endParaRPr lang="en-US" sz="534" dirty="0"/>
          </a:p>
        </p:txBody>
      </p:sp>
      <p:sp>
        <p:nvSpPr>
          <p:cNvPr id="34" name="Text 31"/>
          <p:cNvSpPr/>
          <p:nvPr/>
        </p:nvSpPr>
        <p:spPr>
          <a:xfrm>
            <a:off x="6216235" y="1176933"/>
            <a:ext cx="166806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System Applies Rule-based Matching</a:t>
            </a:r>
            <a:endParaRPr lang="en-US" sz="674" dirty="0"/>
          </a:p>
        </p:txBody>
      </p:sp>
      <p:sp>
        <p:nvSpPr>
          <p:cNvPr id="35" name="Text 32"/>
          <p:cNvSpPr/>
          <p:nvPr/>
        </p:nvSpPr>
        <p:spPr>
          <a:xfrm>
            <a:off x="6062644" y="1335881"/>
            <a:ext cx="96441" cy="112514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34" b="1" dirty="0">
                <a:solidFill>
                  <a:srgbClr val="EF835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</a:t>
            </a:r>
            <a:endParaRPr lang="en-US" sz="534" dirty="0"/>
          </a:p>
        </p:txBody>
      </p:sp>
      <p:sp>
        <p:nvSpPr>
          <p:cNvPr id="36" name="Text 33"/>
          <p:cNvSpPr/>
          <p:nvPr/>
        </p:nvSpPr>
        <p:spPr>
          <a:xfrm>
            <a:off x="6216235" y="1335881"/>
            <a:ext cx="34290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Assigns</a:t>
            </a:r>
            <a:endParaRPr lang="en-US" sz="674" dirty="0"/>
          </a:p>
        </p:txBody>
      </p:sp>
      <p:sp>
        <p:nvSpPr>
          <p:cNvPr id="37" name="Text 34"/>
          <p:cNvSpPr/>
          <p:nvPr/>
        </p:nvSpPr>
        <p:spPr>
          <a:xfrm>
            <a:off x="6559135" y="1335881"/>
            <a:ext cx="44578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2D314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Category</a:t>
            </a:r>
            <a:endParaRPr lang="en-US" sz="674" dirty="0"/>
          </a:p>
        </p:txBody>
      </p:sp>
      <p:sp>
        <p:nvSpPr>
          <p:cNvPr id="38" name="Text 35"/>
          <p:cNvSpPr/>
          <p:nvPr/>
        </p:nvSpPr>
        <p:spPr>
          <a:xfrm>
            <a:off x="7004921" y="1335881"/>
            <a:ext cx="9822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</a:t>
            </a:r>
            <a:endParaRPr lang="en-US" sz="674" dirty="0"/>
          </a:p>
        </p:txBody>
      </p:sp>
      <p:sp>
        <p:nvSpPr>
          <p:cNvPr id="39" name="Text 36"/>
          <p:cNvSpPr/>
          <p:nvPr/>
        </p:nvSpPr>
        <p:spPr>
          <a:xfrm>
            <a:off x="7103148" y="1335881"/>
            <a:ext cx="61293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2D314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Transaction</a:t>
            </a:r>
            <a:endParaRPr lang="en-US" sz="674" dirty="0"/>
          </a:p>
        </p:txBody>
      </p:sp>
      <p:sp>
        <p:nvSpPr>
          <p:cNvPr id="40" name="Text 37"/>
          <p:cNvSpPr/>
          <p:nvPr/>
        </p:nvSpPr>
        <p:spPr>
          <a:xfrm>
            <a:off x="7716087" y="1335881"/>
            <a:ext cx="27324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Entity</a:t>
            </a:r>
            <a:endParaRPr lang="en-US" sz="674" dirty="0"/>
          </a:p>
        </p:txBody>
      </p:sp>
      <p:sp>
        <p:nvSpPr>
          <p:cNvPr id="41" name="Text 38"/>
          <p:cNvSpPr/>
          <p:nvPr/>
        </p:nvSpPr>
        <p:spPr>
          <a:xfrm>
            <a:off x="6062644" y="1494830"/>
            <a:ext cx="96441" cy="112514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34" b="1" dirty="0">
                <a:solidFill>
                  <a:srgbClr val="EF835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</a:t>
            </a:r>
            <a:endParaRPr lang="en-US" sz="534" dirty="0"/>
          </a:p>
        </p:txBody>
      </p:sp>
      <p:sp>
        <p:nvSpPr>
          <p:cNvPr id="42" name="Text 39"/>
          <p:cNvSpPr/>
          <p:nvPr/>
        </p:nvSpPr>
        <p:spPr>
          <a:xfrm>
            <a:off x="6216235" y="1494830"/>
            <a:ext cx="36254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Triggers</a:t>
            </a:r>
            <a:endParaRPr lang="en-US" sz="674" dirty="0"/>
          </a:p>
        </p:txBody>
      </p:sp>
      <p:sp>
        <p:nvSpPr>
          <p:cNvPr id="43" name="Text 40"/>
          <p:cNvSpPr/>
          <p:nvPr/>
        </p:nvSpPr>
        <p:spPr>
          <a:xfrm>
            <a:off x="6578780" y="1494830"/>
            <a:ext cx="89154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2D314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AnalyticsService</a:t>
            </a:r>
            <a:endParaRPr lang="en-US" sz="674" dirty="0"/>
          </a:p>
        </p:txBody>
      </p:sp>
      <p:sp>
        <p:nvSpPr>
          <p:cNvPr id="44" name="Text 41"/>
          <p:cNvSpPr/>
          <p:nvPr/>
        </p:nvSpPr>
        <p:spPr>
          <a:xfrm>
            <a:off x="7470325" y="1494830"/>
            <a:ext cx="32682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Update</a:t>
            </a:r>
            <a:endParaRPr lang="en-US" sz="674" dirty="0"/>
          </a:p>
        </p:txBody>
      </p:sp>
      <p:sp>
        <p:nvSpPr>
          <p:cNvPr id="45" name="Text 42"/>
          <p:cNvSpPr/>
          <p:nvPr/>
        </p:nvSpPr>
        <p:spPr>
          <a:xfrm>
            <a:off x="6062644" y="1653778"/>
            <a:ext cx="96441" cy="112514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34" b="1" dirty="0">
                <a:solidFill>
                  <a:srgbClr val="EF835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</a:t>
            </a:r>
            <a:endParaRPr lang="en-US" sz="534" dirty="0"/>
          </a:p>
        </p:txBody>
      </p:sp>
      <p:sp>
        <p:nvSpPr>
          <p:cNvPr id="46" name="Text 43"/>
          <p:cNvSpPr/>
          <p:nvPr/>
        </p:nvSpPr>
        <p:spPr>
          <a:xfrm>
            <a:off x="6216235" y="1653778"/>
            <a:ext cx="57685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Recalculates</a:t>
            </a:r>
            <a:endParaRPr lang="en-US" sz="674" dirty="0"/>
          </a:p>
        </p:txBody>
      </p:sp>
      <p:sp>
        <p:nvSpPr>
          <p:cNvPr id="47" name="Text 44"/>
          <p:cNvSpPr/>
          <p:nvPr/>
        </p:nvSpPr>
        <p:spPr>
          <a:xfrm>
            <a:off x="6793092" y="1653778"/>
            <a:ext cx="33433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2D314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Budget</a:t>
            </a:r>
            <a:endParaRPr lang="en-US" sz="674" dirty="0"/>
          </a:p>
        </p:txBody>
      </p:sp>
      <p:sp>
        <p:nvSpPr>
          <p:cNvPr id="48" name="Text 45"/>
          <p:cNvSpPr/>
          <p:nvPr/>
        </p:nvSpPr>
        <p:spPr>
          <a:xfrm>
            <a:off x="7127425" y="1653778"/>
            <a:ext cx="69294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Health &amp; Status</a:t>
            </a:r>
            <a:endParaRPr lang="en-US" sz="674" dirty="0"/>
          </a:p>
        </p:txBody>
      </p:sp>
      <p:sp>
        <p:nvSpPr>
          <p:cNvPr id="49" name="Shape 46"/>
          <p:cNvSpPr/>
          <p:nvPr/>
        </p:nvSpPr>
        <p:spPr>
          <a:xfrm>
            <a:off x="428625" y="2059186"/>
            <a:ext cx="2724141" cy="1300163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7"/>
          <p:cNvSpPr/>
          <p:nvPr/>
        </p:nvSpPr>
        <p:spPr>
          <a:xfrm>
            <a:off x="428625" y="2059186"/>
            <a:ext cx="2724141" cy="28575"/>
          </a:xfrm>
          <a:prstGeom prst="rect">
            <a:avLst/>
          </a:prstGeom>
          <a:solidFill>
            <a:srgbClr val="4F5D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8"/>
          <p:cNvSpPr/>
          <p:nvPr/>
        </p:nvSpPr>
        <p:spPr>
          <a:xfrm>
            <a:off x="500063" y="2130623"/>
            <a:ext cx="2581266" cy="317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1B433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DESIGN JUSTIFICATION: RULE-BASED CATEGORIZATION</a:t>
            </a:r>
            <a:endParaRPr lang="en-US" sz="734" dirty="0"/>
          </a:p>
        </p:txBody>
      </p:sp>
      <p:sp>
        <p:nvSpPr>
          <p:cNvPr id="52" name="Text 49"/>
          <p:cNvSpPr/>
          <p:nvPr/>
        </p:nvSpPr>
        <p:spPr>
          <a:xfrm>
            <a:off x="500063" y="2505670"/>
            <a:ext cx="48220" cy="112514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34" b="1" dirty="0">
                <a:solidFill>
                  <a:srgbClr val="EF835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•</a:t>
            </a:r>
            <a:endParaRPr lang="en-US" sz="534" dirty="0"/>
          </a:p>
        </p:txBody>
      </p:sp>
      <p:sp>
        <p:nvSpPr>
          <p:cNvPr id="53" name="Text 50"/>
          <p:cNvSpPr/>
          <p:nvPr/>
        </p:nvSpPr>
        <p:spPr>
          <a:xfrm>
            <a:off x="605433" y="2505670"/>
            <a:ext cx="63936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Predictability:</a:t>
            </a:r>
            <a:endParaRPr lang="en-US" sz="634" dirty="0"/>
          </a:p>
        </p:txBody>
      </p:sp>
      <p:sp>
        <p:nvSpPr>
          <p:cNvPr id="54" name="Text 51"/>
          <p:cNvSpPr/>
          <p:nvPr/>
        </p:nvSpPr>
        <p:spPr>
          <a:xfrm>
            <a:off x="1244798" y="2505670"/>
            <a:ext cx="1836530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Clear, auditable logic for financial classification.</a:t>
            </a:r>
            <a:endParaRPr lang="en-US" sz="674" dirty="0"/>
          </a:p>
        </p:txBody>
      </p:sp>
      <p:sp>
        <p:nvSpPr>
          <p:cNvPr id="55" name="Text 52"/>
          <p:cNvSpPr/>
          <p:nvPr/>
        </p:nvSpPr>
        <p:spPr>
          <a:xfrm>
            <a:off x="500063" y="2780705"/>
            <a:ext cx="48220" cy="112514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34" b="1" dirty="0">
                <a:solidFill>
                  <a:srgbClr val="EF835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•</a:t>
            </a:r>
            <a:endParaRPr lang="en-US" sz="534" dirty="0"/>
          </a:p>
        </p:txBody>
      </p:sp>
      <p:sp>
        <p:nvSpPr>
          <p:cNvPr id="56" name="Text 53"/>
          <p:cNvSpPr/>
          <p:nvPr/>
        </p:nvSpPr>
        <p:spPr>
          <a:xfrm>
            <a:off x="605433" y="2780705"/>
            <a:ext cx="531121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User Control:</a:t>
            </a:r>
            <a:endParaRPr lang="en-US" sz="634" dirty="0"/>
          </a:p>
        </p:txBody>
      </p:sp>
      <p:sp>
        <p:nvSpPr>
          <p:cNvPr id="57" name="Text 54"/>
          <p:cNvSpPr/>
          <p:nvPr/>
        </p:nvSpPr>
        <p:spPr>
          <a:xfrm>
            <a:off x="1136554" y="2780705"/>
            <a:ext cx="1944774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Allows explicit user-defined rules and overrides.</a:t>
            </a:r>
            <a:endParaRPr lang="en-US" sz="674" dirty="0"/>
          </a:p>
        </p:txBody>
      </p:sp>
      <p:sp>
        <p:nvSpPr>
          <p:cNvPr id="58" name="Text 55"/>
          <p:cNvSpPr/>
          <p:nvPr/>
        </p:nvSpPr>
        <p:spPr>
          <a:xfrm>
            <a:off x="500063" y="3055739"/>
            <a:ext cx="48220" cy="112514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34" b="1" dirty="0">
                <a:solidFill>
                  <a:srgbClr val="EF835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•</a:t>
            </a:r>
            <a:endParaRPr lang="en-US" sz="534" dirty="0"/>
          </a:p>
        </p:txBody>
      </p:sp>
      <p:sp>
        <p:nvSpPr>
          <p:cNvPr id="59" name="Text 56"/>
          <p:cNvSpPr/>
          <p:nvPr/>
        </p:nvSpPr>
        <p:spPr>
          <a:xfrm>
            <a:off x="605433" y="3055739"/>
            <a:ext cx="60364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Performance:</a:t>
            </a:r>
            <a:endParaRPr lang="en-US" sz="634" dirty="0"/>
          </a:p>
        </p:txBody>
      </p:sp>
      <p:sp>
        <p:nvSpPr>
          <p:cNvPr id="60" name="Text 57"/>
          <p:cNvSpPr/>
          <p:nvPr/>
        </p:nvSpPr>
        <p:spPr>
          <a:xfrm>
            <a:off x="1209080" y="3055739"/>
            <a:ext cx="1872249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Efficient for high-volume transaction processing.</a:t>
            </a:r>
            <a:endParaRPr lang="en-US" sz="674" dirty="0"/>
          </a:p>
        </p:txBody>
      </p:sp>
      <p:sp>
        <p:nvSpPr>
          <p:cNvPr id="61" name="Shape 58"/>
          <p:cNvSpPr/>
          <p:nvPr/>
        </p:nvSpPr>
        <p:spPr>
          <a:xfrm>
            <a:off x="3209916" y="2059186"/>
            <a:ext cx="2724141" cy="1271588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59"/>
          <p:cNvSpPr/>
          <p:nvPr/>
        </p:nvSpPr>
        <p:spPr>
          <a:xfrm>
            <a:off x="3209916" y="2059186"/>
            <a:ext cx="2724141" cy="28575"/>
          </a:xfrm>
          <a:prstGeom prst="rect">
            <a:avLst/>
          </a:prstGeom>
          <a:solidFill>
            <a:srgbClr val="4F5D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0"/>
          <p:cNvSpPr/>
          <p:nvPr/>
        </p:nvSpPr>
        <p:spPr>
          <a:xfrm>
            <a:off x="3281353" y="2130623"/>
            <a:ext cx="2581266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1B433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ALERT GENERATION</a:t>
            </a:r>
            <a:endParaRPr lang="en-US" sz="734" dirty="0"/>
          </a:p>
        </p:txBody>
      </p:sp>
      <p:sp>
        <p:nvSpPr>
          <p:cNvPr id="64" name="Text 61"/>
          <p:cNvSpPr/>
          <p:nvPr/>
        </p:nvSpPr>
        <p:spPr>
          <a:xfrm>
            <a:off x="3281353" y="2346722"/>
            <a:ext cx="96441" cy="112514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34" b="1" dirty="0">
                <a:solidFill>
                  <a:srgbClr val="EF835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</a:t>
            </a:r>
            <a:endParaRPr lang="en-US" sz="534" dirty="0"/>
          </a:p>
        </p:txBody>
      </p:sp>
      <p:sp>
        <p:nvSpPr>
          <p:cNvPr id="65" name="Text 62"/>
          <p:cNvSpPr/>
          <p:nvPr/>
        </p:nvSpPr>
        <p:spPr>
          <a:xfrm>
            <a:off x="3434944" y="2346722"/>
            <a:ext cx="66866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2D314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AlertManager</a:t>
            </a:r>
            <a:endParaRPr lang="en-US" sz="674" dirty="0"/>
          </a:p>
        </p:txBody>
      </p:sp>
      <p:sp>
        <p:nvSpPr>
          <p:cNvPr id="66" name="Text 63"/>
          <p:cNvSpPr/>
          <p:nvPr/>
        </p:nvSpPr>
        <p:spPr>
          <a:xfrm>
            <a:off x="4103610" y="2346722"/>
            <a:ext cx="39826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Monitors</a:t>
            </a:r>
            <a:endParaRPr lang="en-US" sz="674" dirty="0"/>
          </a:p>
        </p:txBody>
      </p:sp>
      <p:sp>
        <p:nvSpPr>
          <p:cNvPr id="67" name="Text 64"/>
          <p:cNvSpPr/>
          <p:nvPr/>
        </p:nvSpPr>
        <p:spPr>
          <a:xfrm>
            <a:off x="4501874" y="2346722"/>
            <a:ext cx="33433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2D314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Budget</a:t>
            </a:r>
            <a:endParaRPr lang="en-US" sz="674" dirty="0"/>
          </a:p>
        </p:txBody>
      </p:sp>
      <p:sp>
        <p:nvSpPr>
          <p:cNvPr id="68" name="Text 65"/>
          <p:cNvSpPr/>
          <p:nvPr/>
        </p:nvSpPr>
        <p:spPr>
          <a:xfrm>
            <a:off x="4836207" y="2346722"/>
            <a:ext cx="24645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State</a:t>
            </a:r>
            <a:endParaRPr lang="en-US" sz="674" dirty="0"/>
          </a:p>
        </p:txBody>
      </p:sp>
      <p:sp>
        <p:nvSpPr>
          <p:cNvPr id="69" name="Text 66"/>
          <p:cNvSpPr/>
          <p:nvPr/>
        </p:nvSpPr>
        <p:spPr>
          <a:xfrm>
            <a:off x="3281353" y="2505670"/>
            <a:ext cx="96441" cy="112514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34" b="1" dirty="0">
                <a:solidFill>
                  <a:srgbClr val="EF835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</a:t>
            </a:r>
            <a:endParaRPr lang="en-US" sz="534" dirty="0"/>
          </a:p>
        </p:txBody>
      </p:sp>
      <p:sp>
        <p:nvSpPr>
          <p:cNvPr id="70" name="Text 67"/>
          <p:cNvSpPr/>
          <p:nvPr/>
        </p:nvSpPr>
        <p:spPr>
          <a:xfrm>
            <a:off x="3434944" y="2505670"/>
            <a:ext cx="175021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Detects Threshold Breach (80% / 100%)</a:t>
            </a:r>
            <a:endParaRPr lang="en-US" sz="674" dirty="0"/>
          </a:p>
        </p:txBody>
      </p:sp>
      <p:sp>
        <p:nvSpPr>
          <p:cNvPr id="71" name="Text 68"/>
          <p:cNvSpPr/>
          <p:nvPr/>
        </p:nvSpPr>
        <p:spPr>
          <a:xfrm>
            <a:off x="3281353" y="2664619"/>
            <a:ext cx="96441" cy="112514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34" b="1" dirty="0">
                <a:solidFill>
                  <a:srgbClr val="EF835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</a:t>
            </a:r>
            <a:endParaRPr lang="en-US" sz="534" dirty="0"/>
          </a:p>
        </p:txBody>
      </p:sp>
      <p:sp>
        <p:nvSpPr>
          <p:cNvPr id="72" name="Text 69"/>
          <p:cNvSpPr/>
          <p:nvPr/>
        </p:nvSpPr>
        <p:spPr>
          <a:xfrm>
            <a:off x="3434944" y="2664619"/>
            <a:ext cx="34290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Creates</a:t>
            </a:r>
            <a:endParaRPr lang="en-US" sz="674" dirty="0"/>
          </a:p>
        </p:txBody>
      </p:sp>
      <p:sp>
        <p:nvSpPr>
          <p:cNvPr id="73" name="Text 70"/>
          <p:cNvSpPr/>
          <p:nvPr/>
        </p:nvSpPr>
        <p:spPr>
          <a:xfrm>
            <a:off x="3777844" y="2664619"/>
            <a:ext cx="61293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2D314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BudgetAlert</a:t>
            </a:r>
            <a:endParaRPr lang="en-US" sz="674" dirty="0"/>
          </a:p>
        </p:txBody>
      </p:sp>
      <p:sp>
        <p:nvSpPr>
          <p:cNvPr id="74" name="Text 71"/>
          <p:cNvSpPr/>
          <p:nvPr/>
        </p:nvSpPr>
        <p:spPr>
          <a:xfrm>
            <a:off x="4390783" y="2664619"/>
            <a:ext cx="27324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Entity</a:t>
            </a:r>
            <a:endParaRPr lang="en-US" sz="674" dirty="0"/>
          </a:p>
        </p:txBody>
      </p:sp>
      <p:sp>
        <p:nvSpPr>
          <p:cNvPr id="75" name="Text 72"/>
          <p:cNvSpPr/>
          <p:nvPr/>
        </p:nvSpPr>
        <p:spPr>
          <a:xfrm>
            <a:off x="3281353" y="2823567"/>
            <a:ext cx="96441" cy="112514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34" b="1" dirty="0">
                <a:solidFill>
                  <a:srgbClr val="EF835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</a:t>
            </a:r>
            <a:endParaRPr lang="en-US" sz="534" dirty="0"/>
          </a:p>
        </p:txBody>
      </p:sp>
      <p:sp>
        <p:nvSpPr>
          <p:cNvPr id="76" name="Text 73"/>
          <p:cNvSpPr/>
          <p:nvPr/>
        </p:nvSpPr>
        <p:spPr>
          <a:xfrm>
            <a:off x="3434944" y="2823567"/>
            <a:ext cx="120193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Dispatches Notification via</a:t>
            </a:r>
            <a:endParaRPr lang="en-US" sz="674" dirty="0"/>
          </a:p>
        </p:txBody>
      </p:sp>
      <p:sp>
        <p:nvSpPr>
          <p:cNvPr id="77" name="Text 74"/>
          <p:cNvSpPr/>
          <p:nvPr/>
        </p:nvSpPr>
        <p:spPr>
          <a:xfrm>
            <a:off x="4636880" y="2823567"/>
            <a:ext cx="105872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2D3142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NotificationService</a:t>
            </a:r>
            <a:endParaRPr lang="en-US" sz="674" dirty="0"/>
          </a:p>
        </p:txBody>
      </p:sp>
      <p:sp>
        <p:nvSpPr>
          <p:cNvPr id="79" name="Text 76"/>
          <p:cNvSpPr/>
          <p:nvPr/>
        </p:nvSpPr>
        <p:spPr>
          <a:xfrm>
            <a:off x="1914525" y="3657600"/>
            <a:ext cx="5314950" cy="109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endParaRPr lang="en-US" sz="674" dirty="0"/>
          </a:p>
        </p:txBody>
      </p:sp>
      <p:sp>
        <p:nvSpPr>
          <p:cNvPr id="80" name="Shape 77"/>
          <p:cNvSpPr/>
          <p:nvPr/>
        </p:nvSpPr>
        <p:spPr>
          <a:xfrm>
            <a:off x="428625" y="4245173"/>
            <a:ext cx="8286750" cy="526852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1" name="Shape 78"/>
          <p:cNvSpPr/>
          <p:nvPr/>
        </p:nvSpPr>
        <p:spPr>
          <a:xfrm>
            <a:off x="428625" y="4245173"/>
            <a:ext cx="42863" cy="526852"/>
          </a:xfrm>
          <a:prstGeom prst="rect">
            <a:avLst/>
          </a:prstGeom>
          <a:solidFill>
            <a:srgbClr val="EF8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Text 79"/>
          <p:cNvSpPr/>
          <p:nvPr/>
        </p:nvSpPr>
        <p:spPr>
          <a:xfrm>
            <a:off x="514350" y="4302323"/>
            <a:ext cx="811530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68" dirty="0">
                <a:solidFill>
                  <a:srgbClr val="EF835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SYSTEM BEHAVIOR</a:t>
            </a:r>
            <a:endParaRPr lang="en-US" sz="568" dirty="0"/>
          </a:p>
        </p:txBody>
      </p:sp>
      <p:sp>
        <p:nvSpPr>
          <p:cNvPr id="83" name="Text 80"/>
          <p:cNvSpPr/>
          <p:nvPr/>
        </p:nvSpPr>
        <p:spPr>
          <a:xfrm>
            <a:off x="514350" y="4446984"/>
            <a:ext cx="8115300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Activity diagrams model the dynamic workflows of BudgetFlow, ensuring that event-driven updates and continuous analytics recalculations maintain system-wide data consistency.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922"/>
            <a:ext cx="9144000" cy="555278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71475"/>
            <a:ext cx="8286750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EF835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ANALYSIS MODEL</a:t>
            </a:r>
            <a:endParaRPr lang="en-US" sz="727" dirty="0"/>
          </a:p>
        </p:txBody>
      </p:sp>
      <p:sp>
        <p:nvSpPr>
          <p:cNvPr id="4" name="Text 1"/>
          <p:cNvSpPr/>
          <p:nvPr/>
        </p:nvSpPr>
        <p:spPr>
          <a:xfrm>
            <a:off x="428625" y="576858"/>
            <a:ext cx="8286750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kern="0" spc="1" dirty="0">
                <a:solidFill>
                  <a:srgbClr val="1B43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DOMAIN ENTITIES &amp; ROBUSTNESS ANALYSIS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428625" y="1010841"/>
            <a:ext cx="4843463" cy="212527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B433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DOMAIN MODEL ENTITIES</a:t>
            </a:r>
            <a:endParaRPr lang="en-US" sz="784" dirty="0"/>
          </a:p>
        </p:txBody>
      </p:sp>
      <p:sp>
        <p:nvSpPr>
          <p:cNvPr id="6" name="Shape 3"/>
          <p:cNvSpPr/>
          <p:nvPr/>
        </p:nvSpPr>
        <p:spPr>
          <a:xfrm>
            <a:off x="428625" y="1330523"/>
            <a:ext cx="1566853" cy="212527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28625" y="1330523"/>
            <a:ext cx="1566853" cy="212527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User</a:t>
            </a:r>
            <a:endParaRPr lang="en-US" sz="621" dirty="0"/>
          </a:p>
        </p:txBody>
      </p:sp>
      <p:sp>
        <p:nvSpPr>
          <p:cNvPr id="8" name="Shape 5"/>
          <p:cNvSpPr/>
          <p:nvPr/>
        </p:nvSpPr>
        <p:spPr>
          <a:xfrm>
            <a:off x="2066916" y="1330523"/>
            <a:ext cx="1566853" cy="212527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066916" y="1330523"/>
            <a:ext cx="1566853" cy="212527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FinancialAccount</a:t>
            </a:r>
            <a:endParaRPr lang="en-US" sz="621" dirty="0"/>
          </a:p>
        </p:txBody>
      </p:sp>
      <p:sp>
        <p:nvSpPr>
          <p:cNvPr id="10" name="Shape 7"/>
          <p:cNvSpPr/>
          <p:nvPr/>
        </p:nvSpPr>
        <p:spPr>
          <a:xfrm>
            <a:off x="3705206" y="1330523"/>
            <a:ext cx="1566853" cy="212527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705206" y="1330523"/>
            <a:ext cx="1566853" cy="212527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Institution</a:t>
            </a:r>
            <a:endParaRPr lang="en-US" sz="621" dirty="0"/>
          </a:p>
        </p:txBody>
      </p:sp>
      <p:sp>
        <p:nvSpPr>
          <p:cNvPr id="12" name="Shape 9"/>
          <p:cNvSpPr/>
          <p:nvPr/>
        </p:nvSpPr>
        <p:spPr>
          <a:xfrm>
            <a:off x="428625" y="1614488"/>
            <a:ext cx="1566853" cy="212527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28625" y="1614488"/>
            <a:ext cx="1566853" cy="212527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Transaction</a:t>
            </a:r>
            <a:endParaRPr lang="en-US" sz="621" dirty="0"/>
          </a:p>
        </p:txBody>
      </p:sp>
      <p:sp>
        <p:nvSpPr>
          <p:cNvPr id="14" name="Shape 11"/>
          <p:cNvSpPr/>
          <p:nvPr/>
        </p:nvSpPr>
        <p:spPr>
          <a:xfrm>
            <a:off x="2066916" y="1614488"/>
            <a:ext cx="1566853" cy="212527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2066916" y="1614488"/>
            <a:ext cx="1566853" cy="212527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Merchant</a:t>
            </a:r>
            <a:endParaRPr lang="en-US" sz="621" dirty="0"/>
          </a:p>
        </p:txBody>
      </p:sp>
      <p:sp>
        <p:nvSpPr>
          <p:cNvPr id="16" name="Shape 13"/>
          <p:cNvSpPr/>
          <p:nvPr/>
        </p:nvSpPr>
        <p:spPr>
          <a:xfrm>
            <a:off x="3705206" y="1614488"/>
            <a:ext cx="1566853" cy="212527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705206" y="1614488"/>
            <a:ext cx="1566853" cy="212527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Category</a:t>
            </a:r>
            <a:endParaRPr lang="en-US" sz="621" dirty="0"/>
          </a:p>
        </p:txBody>
      </p:sp>
      <p:sp>
        <p:nvSpPr>
          <p:cNvPr id="18" name="Shape 15"/>
          <p:cNvSpPr/>
          <p:nvPr/>
        </p:nvSpPr>
        <p:spPr>
          <a:xfrm>
            <a:off x="428625" y="1898452"/>
            <a:ext cx="1566853" cy="212527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28625" y="1898452"/>
            <a:ext cx="1566853" cy="212527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Budget</a:t>
            </a:r>
            <a:endParaRPr lang="en-US" sz="621" dirty="0"/>
          </a:p>
        </p:txBody>
      </p:sp>
      <p:sp>
        <p:nvSpPr>
          <p:cNvPr id="20" name="Shape 17"/>
          <p:cNvSpPr/>
          <p:nvPr/>
        </p:nvSpPr>
        <p:spPr>
          <a:xfrm>
            <a:off x="2066916" y="1898452"/>
            <a:ext cx="1566853" cy="212527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2066916" y="1898452"/>
            <a:ext cx="1566853" cy="212527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BudgetItem</a:t>
            </a:r>
            <a:endParaRPr lang="en-US" sz="621" dirty="0"/>
          </a:p>
        </p:txBody>
      </p:sp>
      <p:sp>
        <p:nvSpPr>
          <p:cNvPr id="22" name="Shape 19"/>
          <p:cNvSpPr/>
          <p:nvPr/>
        </p:nvSpPr>
        <p:spPr>
          <a:xfrm>
            <a:off x="3705206" y="1898452"/>
            <a:ext cx="1566853" cy="212527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3705206" y="1898452"/>
            <a:ext cx="1566853" cy="212527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621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BudgetAlert</a:t>
            </a:r>
            <a:endParaRPr lang="en-US" sz="621" dirty="0"/>
          </a:p>
        </p:txBody>
      </p:sp>
      <p:sp>
        <p:nvSpPr>
          <p:cNvPr id="25" name="Text 22"/>
          <p:cNvSpPr/>
          <p:nvPr/>
        </p:nvSpPr>
        <p:spPr>
          <a:xfrm>
            <a:off x="428625" y="2817316"/>
            <a:ext cx="4843463" cy="111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endParaRPr lang="en-US" sz="727" dirty="0"/>
          </a:p>
        </p:txBody>
      </p:sp>
      <p:sp>
        <p:nvSpPr>
          <p:cNvPr id="26" name="Shape 23"/>
          <p:cNvSpPr/>
          <p:nvPr/>
        </p:nvSpPr>
        <p:spPr>
          <a:xfrm>
            <a:off x="428624" y="2439372"/>
            <a:ext cx="4843463" cy="653653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428623" y="2447814"/>
            <a:ext cx="4843463" cy="28575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97802" y="2596060"/>
            <a:ext cx="4074198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i="1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"The Analysis Model bridges the gap between 'what' the system does (Use Cases) and 'how' it is structured (Design), ensuring a stable conceptual foundation before implementation."</a:t>
            </a:r>
            <a:endParaRPr lang="en-US" sz="780" dirty="0"/>
          </a:p>
        </p:txBody>
      </p:sp>
      <p:sp>
        <p:nvSpPr>
          <p:cNvPr id="29" name="Shape 26"/>
          <p:cNvSpPr/>
          <p:nvPr/>
        </p:nvSpPr>
        <p:spPr>
          <a:xfrm>
            <a:off x="428623" y="3244940"/>
            <a:ext cx="4843463" cy="823624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428623" y="3244177"/>
            <a:ext cx="4843463" cy="28575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497802" y="3309419"/>
            <a:ext cx="220563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4" b="1" i="1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Design Justification: PostgreSQL Selection</a:t>
            </a:r>
            <a:endParaRPr lang="en-US" sz="734" dirty="0"/>
          </a:p>
        </p:txBody>
      </p:sp>
      <p:sp>
        <p:nvSpPr>
          <p:cNvPr id="32" name="Text 29"/>
          <p:cNvSpPr/>
          <p:nvPr/>
        </p:nvSpPr>
        <p:spPr>
          <a:xfrm>
            <a:off x="497801" y="3539993"/>
            <a:ext cx="4557713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ACID Compliance:</a:t>
            </a:r>
            <a:r>
              <a:rPr lang="en-US" sz="727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Guarantees data integrity for financial transactions.</a:t>
            </a:r>
            <a:endParaRPr lang="en-US" sz="683" dirty="0"/>
          </a:p>
        </p:txBody>
      </p:sp>
      <p:sp>
        <p:nvSpPr>
          <p:cNvPr id="33" name="Text 30"/>
          <p:cNvSpPr/>
          <p:nvPr/>
        </p:nvSpPr>
        <p:spPr>
          <a:xfrm>
            <a:off x="497802" y="3690482"/>
            <a:ext cx="4557713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Relational Integrity:</a:t>
            </a:r>
            <a:r>
              <a:rPr lang="en-US" sz="727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Enforces schema and relationships critical for financial data.</a:t>
            </a:r>
            <a:endParaRPr lang="en-US" sz="683" dirty="0"/>
          </a:p>
        </p:txBody>
      </p:sp>
      <p:sp>
        <p:nvSpPr>
          <p:cNvPr id="34" name="Text 31"/>
          <p:cNvSpPr/>
          <p:nvPr/>
        </p:nvSpPr>
        <p:spPr>
          <a:xfrm>
            <a:off x="497802" y="3841412"/>
            <a:ext cx="4557713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83" b="1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Extensibility:</a:t>
            </a:r>
            <a:r>
              <a:rPr lang="en-US" sz="727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Supports advanced features like JSONB for flexible schema evolution.</a:t>
            </a:r>
            <a:endParaRPr lang="en-US" sz="683" dirty="0"/>
          </a:p>
        </p:txBody>
      </p:sp>
      <p:sp>
        <p:nvSpPr>
          <p:cNvPr id="35" name="Text 32"/>
          <p:cNvSpPr/>
          <p:nvPr/>
        </p:nvSpPr>
        <p:spPr>
          <a:xfrm>
            <a:off x="5486400" y="1010841"/>
            <a:ext cx="3228975" cy="212527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B433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ROBUSTNESS MODEL (BCE)</a:t>
            </a:r>
            <a:endParaRPr lang="en-US" sz="784" dirty="0"/>
          </a:p>
        </p:txBody>
      </p:sp>
      <p:sp>
        <p:nvSpPr>
          <p:cNvPr id="36" name="Text 33"/>
          <p:cNvSpPr/>
          <p:nvPr/>
        </p:nvSpPr>
        <p:spPr>
          <a:xfrm>
            <a:off x="5614988" y="1330523"/>
            <a:ext cx="3100388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1B433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Boundary Objects</a:t>
            </a:r>
            <a:endParaRPr lang="en-US" sz="734" dirty="0"/>
          </a:p>
        </p:txBody>
      </p:sp>
      <p:sp>
        <p:nvSpPr>
          <p:cNvPr id="37" name="Text 34"/>
          <p:cNvSpPr/>
          <p:nvPr/>
        </p:nvSpPr>
        <p:spPr>
          <a:xfrm>
            <a:off x="5614988" y="1525191"/>
            <a:ext cx="3100388" cy="241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4F5D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Interface elements and API endpoints that facilitate interaction between actors and the system (e.g., Dashboard UI, Transaction API).</a:t>
            </a:r>
            <a:endParaRPr lang="en-US" sz="674" dirty="0"/>
          </a:p>
        </p:txBody>
      </p:sp>
      <p:sp>
        <p:nvSpPr>
          <p:cNvPr id="38" name="Text 35"/>
          <p:cNvSpPr/>
          <p:nvPr/>
        </p:nvSpPr>
        <p:spPr>
          <a:xfrm>
            <a:off x="5614988" y="1873783"/>
            <a:ext cx="3100388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1B433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Control Objects</a:t>
            </a:r>
            <a:endParaRPr lang="en-US" sz="734" dirty="0"/>
          </a:p>
        </p:txBody>
      </p:sp>
      <p:sp>
        <p:nvSpPr>
          <p:cNvPr id="39" name="Text 36"/>
          <p:cNvSpPr/>
          <p:nvPr/>
        </p:nvSpPr>
        <p:spPr>
          <a:xfrm>
            <a:off x="5614988" y="2068450"/>
            <a:ext cx="3100388" cy="241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4F5D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'glue' containing business logic and coordination (e.g., AnalyticsService, AlertManager, RecommendationEngine).</a:t>
            </a:r>
            <a:endParaRPr lang="en-US" sz="674" dirty="0"/>
          </a:p>
        </p:txBody>
      </p:sp>
      <p:sp>
        <p:nvSpPr>
          <p:cNvPr id="40" name="Text 37"/>
          <p:cNvSpPr/>
          <p:nvPr/>
        </p:nvSpPr>
        <p:spPr>
          <a:xfrm>
            <a:off x="5614988" y="2417043"/>
            <a:ext cx="3100388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1B433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Entity Objects</a:t>
            </a:r>
            <a:endParaRPr lang="en-US" sz="734" dirty="0"/>
          </a:p>
        </p:txBody>
      </p:sp>
      <p:sp>
        <p:nvSpPr>
          <p:cNvPr id="41" name="Text 38"/>
          <p:cNvSpPr/>
          <p:nvPr/>
        </p:nvSpPr>
        <p:spPr>
          <a:xfrm>
            <a:off x="5614988" y="2611710"/>
            <a:ext cx="3100388" cy="241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4F5D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Passive data structures representing persistent system state (e.g., Transaction records, Budget configurations).</a:t>
            </a:r>
            <a:endParaRPr lang="en-US" sz="674" dirty="0"/>
          </a:p>
        </p:txBody>
      </p:sp>
      <p:sp>
        <p:nvSpPr>
          <p:cNvPr id="42" name="Text 39"/>
          <p:cNvSpPr/>
          <p:nvPr/>
        </p:nvSpPr>
        <p:spPr>
          <a:xfrm>
            <a:off x="5486400" y="3067459"/>
            <a:ext cx="3228975" cy="212527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B433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KEY RELATIONSHIPS</a:t>
            </a:r>
            <a:endParaRPr lang="en-US" sz="784" dirty="0"/>
          </a:p>
        </p:txBody>
      </p:sp>
      <p:sp>
        <p:nvSpPr>
          <p:cNvPr id="43" name="Text 40"/>
          <p:cNvSpPr/>
          <p:nvPr/>
        </p:nvSpPr>
        <p:spPr>
          <a:xfrm>
            <a:off x="5486400" y="3387142"/>
            <a:ext cx="3228975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EF835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User</a:t>
            </a:r>
            <a:r>
              <a:rPr lang="en-US" sz="674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owns 1..* </a:t>
            </a:r>
            <a:r>
              <a:rPr lang="en-US" sz="634" b="1" dirty="0">
                <a:solidFill>
                  <a:srgbClr val="1B43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Accounts</a:t>
            </a:r>
            <a:endParaRPr lang="en-US" sz="634" dirty="0"/>
          </a:p>
        </p:txBody>
      </p:sp>
      <p:sp>
        <p:nvSpPr>
          <p:cNvPr id="44" name="Text 41"/>
          <p:cNvSpPr/>
          <p:nvPr/>
        </p:nvSpPr>
        <p:spPr>
          <a:xfrm>
            <a:off x="5486400" y="3535710"/>
            <a:ext cx="3228975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EF835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Account</a:t>
            </a:r>
            <a:r>
              <a:rPr lang="en-US" sz="674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contains * </a:t>
            </a:r>
            <a:r>
              <a:rPr lang="en-US" sz="634" b="1" dirty="0">
                <a:solidFill>
                  <a:srgbClr val="1B43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Transactions</a:t>
            </a:r>
            <a:endParaRPr lang="en-US" sz="634" dirty="0"/>
          </a:p>
        </p:txBody>
      </p:sp>
      <p:sp>
        <p:nvSpPr>
          <p:cNvPr id="45" name="Text 42"/>
          <p:cNvSpPr/>
          <p:nvPr/>
        </p:nvSpPr>
        <p:spPr>
          <a:xfrm>
            <a:off x="5486400" y="3684277"/>
            <a:ext cx="3228975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EF835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Transaction</a:t>
            </a:r>
            <a:r>
              <a:rPr lang="en-US" sz="674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belongs to 1 </a:t>
            </a:r>
            <a:r>
              <a:rPr lang="en-US" sz="634" b="1" dirty="0">
                <a:solidFill>
                  <a:srgbClr val="1B43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Category</a:t>
            </a:r>
            <a:endParaRPr lang="en-US" sz="634" dirty="0"/>
          </a:p>
        </p:txBody>
      </p:sp>
      <p:sp>
        <p:nvSpPr>
          <p:cNvPr id="46" name="Text 43"/>
          <p:cNvSpPr/>
          <p:nvPr/>
        </p:nvSpPr>
        <p:spPr>
          <a:xfrm>
            <a:off x="5486400" y="3832845"/>
            <a:ext cx="3228975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EF835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Budget</a:t>
            </a:r>
            <a:r>
              <a:rPr lang="en-US" sz="674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linked to 1..* </a:t>
            </a:r>
            <a:r>
              <a:rPr lang="en-US" sz="634" b="1" dirty="0">
                <a:solidFill>
                  <a:srgbClr val="1B43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Categories</a:t>
            </a:r>
            <a:endParaRPr lang="en-US" sz="63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00038"/>
            <a:ext cx="8286750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EF835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SYSTEM ARCHITECTURE</a:t>
            </a:r>
            <a:endParaRPr lang="en-US" sz="727" dirty="0"/>
          </a:p>
        </p:txBody>
      </p:sp>
      <p:sp>
        <p:nvSpPr>
          <p:cNvPr id="4" name="Text 1"/>
          <p:cNvSpPr/>
          <p:nvPr/>
        </p:nvSpPr>
        <p:spPr>
          <a:xfrm>
            <a:off x="428625" y="505420"/>
            <a:ext cx="8286750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kern="0" spc="1" dirty="0">
                <a:solidFill>
                  <a:srgbClr val="1B43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MODULAR LAYERED DESIGN &amp; TECHNICAL STACK</a:t>
            </a:r>
            <a:endParaRPr lang="en-US" sz="1602" dirty="0"/>
          </a:p>
        </p:txBody>
      </p:sp>
      <p:sp>
        <p:nvSpPr>
          <p:cNvPr id="5" name="Shape 2"/>
          <p:cNvSpPr/>
          <p:nvPr/>
        </p:nvSpPr>
        <p:spPr>
          <a:xfrm>
            <a:off x="428625" y="939403"/>
            <a:ext cx="3214688" cy="392906"/>
          </a:xfrm>
          <a:prstGeom prst="rect">
            <a:avLst/>
          </a:prstGeom>
          <a:solidFill>
            <a:srgbClr val="1B4332"/>
          </a:solidFill>
          <a:ln w="18288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441252" y="999232"/>
            <a:ext cx="1189434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PRESENTATION LAYER</a:t>
            </a:r>
            <a:endParaRPr lang="en-US" sz="734" dirty="0"/>
          </a:p>
        </p:txBody>
      </p:sp>
      <p:sp>
        <p:nvSpPr>
          <p:cNvPr id="7" name="Text 4"/>
          <p:cNvSpPr/>
          <p:nvPr/>
        </p:nvSpPr>
        <p:spPr>
          <a:xfrm>
            <a:off x="1522512" y="1172468"/>
            <a:ext cx="1026914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68" dirty="0">
                <a:solidFill>
                  <a:srgbClr val="FFFFFF">
                    <a:alpha val="8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Next.js / React / TypeScript</a:t>
            </a:r>
            <a:endParaRPr lang="en-US" sz="568" dirty="0"/>
          </a:p>
        </p:txBody>
      </p:sp>
      <p:sp>
        <p:nvSpPr>
          <p:cNvPr id="8" name="Shape 5"/>
          <p:cNvSpPr/>
          <p:nvPr/>
        </p:nvSpPr>
        <p:spPr>
          <a:xfrm>
            <a:off x="428625" y="1389459"/>
            <a:ext cx="3214688" cy="392906"/>
          </a:xfrm>
          <a:prstGeom prst="rect">
            <a:avLst/>
          </a:prstGeom>
          <a:solidFill>
            <a:srgbClr val="F8F9FA"/>
          </a:solidFill>
          <a:ln w="18288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474291" y="1449288"/>
            <a:ext cx="1123355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2D314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API &amp; LOGIC LAYER</a:t>
            </a:r>
            <a:endParaRPr lang="en-US" sz="734" dirty="0"/>
          </a:p>
        </p:txBody>
      </p:sp>
      <p:sp>
        <p:nvSpPr>
          <p:cNvPr id="10" name="Text 7"/>
          <p:cNvSpPr/>
          <p:nvPr/>
        </p:nvSpPr>
        <p:spPr>
          <a:xfrm>
            <a:off x="1725216" y="1622524"/>
            <a:ext cx="621506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68" dirty="0">
                <a:solidFill>
                  <a:srgbClr val="2D3142">
                    <a:alpha val="8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FastAPI / Python</a:t>
            </a:r>
            <a:endParaRPr lang="en-US" sz="568" dirty="0"/>
          </a:p>
        </p:txBody>
      </p:sp>
      <p:sp>
        <p:nvSpPr>
          <p:cNvPr id="11" name="Shape 8"/>
          <p:cNvSpPr/>
          <p:nvPr/>
        </p:nvSpPr>
        <p:spPr>
          <a:xfrm>
            <a:off x="428625" y="1839516"/>
            <a:ext cx="3214688" cy="392906"/>
          </a:xfrm>
          <a:prstGeom prst="rect">
            <a:avLst/>
          </a:prstGeom>
          <a:solidFill>
            <a:srgbClr val="F8F9FA"/>
          </a:solidFill>
          <a:ln w="18288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309092" y="1899345"/>
            <a:ext cx="1453753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2D314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SERVICE &amp; ENGINE LAYER</a:t>
            </a:r>
            <a:endParaRPr lang="en-US" sz="734" dirty="0"/>
          </a:p>
        </p:txBody>
      </p:sp>
      <p:sp>
        <p:nvSpPr>
          <p:cNvPr id="13" name="Text 10"/>
          <p:cNvSpPr/>
          <p:nvPr/>
        </p:nvSpPr>
        <p:spPr>
          <a:xfrm>
            <a:off x="1318022" y="2072580"/>
            <a:ext cx="1435894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68" dirty="0">
                <a:solidFill>
                  <a:srgbClr val="2D3142">
                    <a:alpha val="8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Analytics / Recommendation / Advisor</a:t>
            </a:r>
            <a:endParaRPr lang="en-US" sz="568" dirty="0"/>
          </a:p>
        </p:txBody>
      </p:sp>
      <p:sp>
        <p:nvSpPr>
          <p:cNvPr id="14" name="Shape 11"/>
          <p:cNvSpPr/>
          <p:nvPr/>
        </p:nvSpPr>
        <p:spPr>
          <a:xfrm>
            <a:off x="428625" y="2289572"/>
            <a:ext cx="3214688" cy="392906"/>
          </a:xfrm>
          <a:prstGeom prst="rect">
            <a:avLst/>
          </a:prstGeom>
          <a:solidFill>
            <a:srgbClr val="F8F9FA"/>
          </a:solidFill>
          <a:ln w="18288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441252" y="2349401"/>
            <a:ext cx="1189434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2D314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ASYNC WORKER LAYER</a:t>
            </a:r>
            <a:endParaRPr lang="en-US" sz="734" dirty="0"/>
          </a:p>
        </p:txBody>
      </p:sp>
      <p:sp>
        <p:nvSpPr>
          <p:cNvPr id="16" name="Text 13"/>
          <p:cNvSpPr/>
          <p:nvPr/>
        </p:nvSpPr>
        <p:spPr>
          <a:xfrm>
            <a:off x="1324273" y="2522637"/>
            <a:ext cx="1423392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68" dirty="0">
                <a:solidFill>
                  <a:srgbClr val="2D3142">
                    <a:alpha val="8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Background Jobs / Report Generation</a:t>
            </a:r>
            <a:endParaRPr lang="en-US" sz="568" dirty="0"/>
          </a:p>
        </p:txBody>
      </p:sp>
      <p:sp>
        <p:nvSpPr>
          <p:cNvPr id="17" name="Shape 14"/>
          <p:cNvSpPr/>
          <p:nvPr/>
        </p:nvSpPr>
        <p:spPr>
          <a:xfrm>
            <a:off x="428625" y="2739628"/>
            <a:ext cx="3214688" cy="392906"/>
          </a:xfrm>
          <a:prstGeom prst="rect">
            <a:avLst/>
          </a:prstGeom>
          <a:solidFill>
            <a:srgbClr val="F8F9FA"/>
          </a:solidFill>
          <a:ln w="18288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375172" y="2799457"/>
            <a:ext cx="1321594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2D314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DATA &amp; STORAGE LAYER</a:t>
            </a:r>
            <a:endParaRPr lang="en-US" sz="734" dirty="0"/>
          </a:p>
        </p:txBody>
      </p:sp>
      <p:sp>
        <p:nvSpPr>
          <p:cNvPr id="19" name="Text 16"/>
          <p:cNvSpPr/>
          <p:nvPr/>
        </p:nvSpPr>
        <p:spPr>
          <a:xfrm>
            <a:off x="1600200" y="2972693"/>
            <a:ext cx="87153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68" dirty="0">
                <a:solidFill>
                  <a:srgbClr val="2D3142">
                    <a:alpha val="8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PostgreSQL / S3 / MinIO</a:t>
            </a:r>
            <a:endParaRPr lang="en-US" sz="568" dirty="0"/>
          </a:p>
        </p:txBody>
      </p:sp>
      <p:sp>
        <p:nvSpPr>
          <p:cNvPr id="20" name="Text 17"/>
          <p:cNvSpPr/>
          <p:nvPr/>
        </p:nvSpPr>
        <p:spPr>
          <a:xfrm>
            <a:off x="3993356" y="939403"/>
            <a:ext cx="4722019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1B433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FRONTEND (NEXT.JS)</a:t>
            </a:r>
            <a:endParaRPr lang="en-US" sz="734" dirty="0"/>
          </a:p>
        </p:txBody>
      </p:sp>
      <p:sp>
        <p:nvSpPr>
          <p:cNvPr id="21" name="Text 18"/>
          <p:cNvSpPr/>
          <p:nvPr/>
        </p:nvSpPr>
        <p:spPr>
          <a:xfrm>
            <a:off x="3993356" y="1134070"/>
            <a:ext cx="4722019" cy="241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4F5D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Responsive UI components for financial visualization and user interaction. Handles client-side state and secure API communication.</a:t>
            </a:r>
            <a:endParaRPr lang="en-US" sz="674" dirty="0"/>
          </a:p>
        </p:txBody>
      </p:sp>
      <p:sp>
        <p:nvSpPr>
          <p:cNvPr id="22" name="Text 19"/>
          <p:cNvSpPr/>
          <p:nvPr/>
        </p:nvSpPr>
        <p:spPr>
          <a:xfrm>
            <a:off x="3993356" y="1446944"/>
            <a:ext cx="4722019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1B433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BACKEND (FASTAPI)</a:t>
            </a:r>
            <a:endParaRPr lang="en-US" sz="734" dirty="0"/>
          </a:p>
        </p:txBody>
      </p:sp>
      <p:sp>
        <p:nvSpPr>
          <p:cNvPr id="23" name="Text 20"/>
          <p:cNvSpPr/>
          <p:nvPr/>
        </p:nvSpPr>
        <p:spPr>
          <a:xfrm>
            <a:off x="3993356" y="1641611"/>
            <a:ext cx="4722019" cy="241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4F5D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High-performance RESTful endpoints. Manages authentication, transaction ingestion, and core business logic orchestration.</a:t>
            </a:r>
            <a:endParaRPr lang="en-US" sz="674" dirty="0"/>
          </a:p>
        </p:txBody>
      </p:sp>
      <p:sp>
        <p:nvSpPr>
          <p:cNvPr id="24" name="Text 21"/>
          <p:cNvSpPr/>
          <p:nvPr/>
        </p:nvSpPr>
        <p:spPr>
          <a:xfrm>
            <a:off x="3993356" y="1954485"/>
            <a:ext cx="4722019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1B433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SERVICE &amp; WORKER LAYERS</a:t>
            </a:r>
            <a:endParaRPr lang="en-US" sz="734" dirty="0"/>
          </a:p>
        </p:txBody>
      </p:sp>
      <p:sp>
        <p:nvSpPr>
          <p:cNvPr id="25" name="Text 22"/>
          <p:cNvSpPr/>
          <p:nvPr/>
        </p:nvSpPr>
        <p:spPr>
          <a:xfrm>
            <a:off x="3993356" y="2149153"/>
            <a:ext cx="4722019" cy="241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4F5D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Decoupled services for heavy computation. Workers handle asynchronous tasks like PDF report generation and LLM-based advisor queries.</a:t>
            </a:r>
            <a:endParaRPr lang="en-US" sz="674" dirty="0"/>
          </a:p>
        </p:txBody>
      </p:sp>
      <p:sp>
        <p:nvSpPr>
          <p:cNvPr id="26" name="Text 23"/>
          <p:cNvSpPr/>
          <p:nvPr/>
        </p:nvSpPr>
        <p:spPr>
          <a:xfrm>
            <a:off x="3993356" y="2462026"/>
            <a:ext cx="4722019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1B433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PERSISTENCE (POSTGRESQL/S3)</a:t>
            </a:r>
            <a:endParaRPr lang="en-US" sz="734" dirty="0"/>
          </a:p>
        </p:txBody>
      </p:sp>
      <p:sp>
        <p:nvSpPr>
          <p:cNvPr id="27" name="Text 24"/>
          <p:cNvSpPr/>
          <p:nvPr/>
        </p:nvSpPr>
        <p:spPr>
          <a:xfrm>
            <a:off x="3993356" y="2656694"/>
            <a:ext cx="4722019" cy="241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4F5D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Relational schema for structured financial entities. Object storage for generated reports and historical data archives.</a:t>
            </a:r>
            <a:endParaRPr lang="en-US" sz="674" dirty="0"/>
          </a:p>
        </p:txBody>
      </p:sp>
      <p:sp>
        <p:nvSpPr>
          <p:cNvPr id="28" name="Text 25"/>
          <p:cNvSpPr/>
          <p:nvPr/>
        </p:nvSpPr>
        <p:spPr>
          <a:xfrm>
            <a:off x="3993356" y="2969568"/>
            <a:ext cx="4722019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1B433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DATA CONSISTENCY &amp; INTEGRITY</a:t>
            </a:r>
            <a:endParaRPr lang="en-US" sz="734" dirty="0"/>
          </a:p>
        </p:txBody>
      </p:sp>
      <p:sp>
        <p:nvSpPr>
          <p:cNvPr id="29" name="Text 26"/>
          <p:cNvSpPr/>
          <p:nvPr/>
        </p:nvSpPr>
        <p:spPr>
          <a:xfrm>
            <a:off x="3993356" y="3164235"/>
            <a:ext cx="4722019" cy="362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4F5D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ACID Transactions:</a:t>
            </a:r>
            <a:r>
              <a:rPr lang="en-US" sz="674" dirty="0">
                <a:solidFill>
                  <a:srgbClr val="4F5D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Ensured via PostgreSQL for all critical financial operations. </a:t>
            </a:r>
            <a:r>
              <a:rPr lang="en-US" sz="634" b="1" dirty="0">
                <a:solidFill>
                  <a:srgbClr val="4F5D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Idempotent Operations:</a:t>
            </a:r>
            <a:r>
              <a:rPr lang="en-US" sz="674" dirty="0">
                <a:solidFill>
                  <a:srgbClr val="4F5D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Async workers designed for retry-safety and unique transaction fingerprinting to prevent data duplication.</a:t>
            </a:r>
            <a:endParaRPr lang="en-US" sz="634" dirty="0"/>
          </a:p>
        </p:txBody>
      </p:sp>
      <p:sp>
        <p:nvSpPr>
          <p:cNvPr id="30" name="Text 27"/>
          <p:cNvSpPr/>
          <p:nvPr/>
        </p:nvSpPr>
        <p:spPr>
          <a:xfrm>
            <a:off x="3993356" y="3597827"/>
            <a:ext cx="4722019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1B433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CONCURRENCY &amp; USER ISOLATION</a:t>
            </a:r>
            <a:endParaRPr lang="en-US" sz="734" dirty="0"/>
          </a:p>
        </p:txBody>
      </p:sp>
      <p:sp>
        <p:nvSpPr>
          <p:cNvPr id="31" name="Text 28"/>
          <p:cNvSpPr/>
          <p:nvPr/>
        </p:nvSpPr>
        <p:spPr>
          <a:xfrm>
            <a:off x="3993356" y="3792494"/>
            <a:ext cx="4722019" cy="241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4F5D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Async Workers:</a:t>
            </a:r>
            <a:r>
              <a:rPr lang="en-US" sz="674" dirty="0">
                <a:solidFill>
                  <a:srgbClr val="4F5D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Handle concurrent tasks without blocking main API. </a:t>
            </a:r>
            <a:r>
              <a:rPr lang="en-US" sz="634" b="1" dirty="0">
                <a:solidFill>
                  <a:srgbClr val="4F5D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Multi-tenancy:</a:t>
            </a:r>
            <a:r>
              <a:rPr lang="en-US" sz="674" dirty="0">
                <a:solidFill>
                  <a:srgbClr val="4F5D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Strict data segregation per user via database-level partitioning and application-level access control.</a:t>
            </a:r>
            <a:endParaRPr lang="en-US" sz="634" dirty="0"/>
          </a:p>
        </p:txBody>
      </p:sp>
      <p:sp>
        <p:nvSpPr>
          <p:cNvPr id="32" name="Shape 29"/>
          <p:cNvSpPr/>
          <p:nvPr/>
        </p:nvSpPr>
        <p:spPr>
          <a:xfrm>
            <a:off x="428625" y="4283962"/>
            <a:ext cx="8286750" cy="450056"/>
          </a:xfrm>
          <a:prstGeom prst="rect">
            <a:avLst/>
          </a:prstGeom>
          <a:solidFill>
            <a:srgbClr val="F8F9FA"/>
          </a:solidFill>
          <a:ln w="9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535781" y="4364329"/>
            <a:ext cx="497077" cy="275034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535781" y="4364329"/>
            <a:ext cx="497077" cy="275034"/>
          </a:xfrm>
          <a:prstGeom prst="rect">
            <a:avLst/>
          </a:prstGeom>
          <a:noFill/>
          <a:ln/>
        </p:spPr>
        <p:txBody>
          <a:bodyPr wrap="square" lIns="51054" tIns="25527" rIns="51054" bIns="25527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68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Key Insight</a:t>
            </a:r>
            <a:endParaRPr lang="en-US" sz="568" dirty="0"/>
          </a:p>
        </p:txBody>
      </p:sp>
      <p:sp>
        <p:nvSpPr>
          <p:cNvPr id="35" name="Text 32"/>
          <p:cNvSpPr/>
          <p:nvPr/>
        </p:nvSpPr>
        <p:spPr>
          <a:xfrm>
            <a:off x="1140014" y="4355399"/>
            <a:ext cx="7468205" cy="292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system follows a </a:t>
            </a:r>
            <a:r>
              <a:rPr lang="en-US" sz="784" b="1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strictly decoupled, layered architecture</a:t>
            </a:r>
            <a:r>
              <a:rPr lang="en-US" sz="834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, ensuring that changes in the UI or database schema do not compromise the integrity of the core financial logic.</a:t>
            </a:r>
            <a:endParaRPr lang="en-US" sz="83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71475"/>
            <a:ext cx="8286750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EF835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OPERATIONAL PROTOTYPE</a:t>
            </a:r>
            <a:endParaRPr lang="en-US" sz="727" dirty="0"/>
          </a:p>
        </p:txBody>
      </p:sp>
      <p:sp>
        <p:nvSpPr>
          <p:cNvPr id="4" name="Text 1"/>
          <p:cNvSpPr/>
          <p:nvPr/>
        </p:nvSpPr>
        <p:spPr>
          <a:xfrm>
            <a:off x="428625" y="576858"/>
            <a:ext cx="8286750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kern="0" spc="1" dirty="0">
                <a:solidFill>
                  <a:srgbClr val="1B43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CORE FUNCTIONAL MODULES &amp; INTERFACE DESIGN</a:t>
            </a:r>
            <a:endParaRPr lang="en-US" sz="1602" dirty="0"/>
          </a:p>
        </p:txBody>
      </p:sp>
      <p:sp>
        <p:nvSpPr>
          <p:cNvPr id="5" name="Shape 2"/>
          <p:cNvSpPr/>
          <p:nvPr/>
        </p:nvSpPr>
        <p:spPr>
          <a:xfrm>
            <a:off x="428625" y="996553"/>
            <a:ext cx="4079081" cy="1881485"/>
          </a:xfrm>
          <a:prstGeom prst="rect">
            <a:avLst/>
          </a:prstGeom>
          <a:solidFill>
            <a:srgbClr val="F8F9FA"/>
          </a:solidFill>
          <a:ln w="9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35781" y="1039416"/>
            <a:ext cx="1323380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B433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ACCOUNTS MANAGEMENT</a:t>
            </a:r>
            <a:endParaRPr lang="en-US" sz="784" dirty="0"/>
          </a:p>
        </p:txBody>
      </p:sp>
      <p:sp>
        <p:nvSpPr>
          <p:cNvPr id="7" name="Shape 4"/>
          <p:cNvSpPr/>
          <p:nvPr/>
        </p:nvSpPr>
        <p:spPr>
          <a:xfrm>
            <a:off x="3671888" y="1057275"/>
            <a:ext cx="728663" cy="133945"/>
          </a:xfrm>
          <a:prstGeom prst="rect">
            <a:avLst/>
          </a:prstGeom>
          <a:solidFill>
            <a:srgbClr val="4F5D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671888" y="1057275"/>
            <a:ext cx="728663" cy="133945"/>
          </a:xfrm>
          <a:prstGeom prst="rect">
            <a:avLst/>
          </a:prstGeom>
          <a:noFill/>
          <a:ln/>
        </p:spPr>
        <p:txBody>
          <a:bodyPr wrap="square" lIns="51054" tIns="17018" rIns="51054" bIns="17018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16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Boundary Object</a:t>
            </a:r>
            <a:endParaRPr lang="en-US" sz="516" dirty="0"/>
          </a:p>
        </p:txBody>
      </p:sp>
      <p:sp>
        <p:nvSpPr>
          <p:cNvPr id="10" name="Text 7"/>
          <p:cNvSpPr/>
          <p:nvPr/>
        </p:nvSpPr>
        <p:spPr>
          <a:xfrm>
            <a:off x="940296" y="1460897"/>
            <a:ext cx="3055739" cy="97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endParaRPr lang="en-US" sz="621" dirty="0"/>
          </a:p>
        </p:txBody>
      </p:sp>
      <p:sp>
        <p:nvSpPr>
          <p:cNvPr id="11" name="Text 8"/>
          <p:cNvSpPr/>
          <p:nvPr/>
        </p:nvSpPr>
        <p:spPr>
          <a:xfrm>
            <a:off x="535781" y="2551219"/>
            <a:ext cx="3864769" cy="107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endParaRPr lang="en-US" sz="621" dirty="0"/>
          </a:p>
        </p:txBody>
      </p:sp>
      <p:sp>
        <p:nvSpPr>
          <p:cNvPr id="12" name="Shape 9"/>
          <p:cNvSpPr/>
          <p:nvPr/>
        </p:nvSpPr>
        <p:spPr>
          <a:xfrm>
            <a:off x="4636294" y="996553"/>
            <a:ext cx="4079081" cy="1881485"/>
          </a:xfrm>
          <a:prstGeom prst="rect">
            <a:avLst/>
          </a:prstGeom>
          <a:solidFill>
            <a:srgbClr val="F8F9FA"/>
          </a:solidFill>
          <a:ln w="9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743450" y="1039416"/>
            <a:ext cx="1253728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B433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TRANSACTION ENGINE</a:t>
            </a:r>
            <a:endParaRPr lang="en-US" sz="784" dirty="0"/>
          </a:p>
        </p:txBody>
      </p:sp>
      <p:sp>
        <p:nvSpPr>
          <p:cNvPr id="14" name="Shape 11"/>
          <p:cNvSpPr/>
          <p:nvPr/>
        </p:nvSpPr>
        <p:spPr>
          <a:xfrm>
            <a:off x="7922419" y="1057275"/>
            <a:ext cx="685800" cy="133945"/>
          </a:xfrm>
          <a:prstGeom prst="rect">
            <a:avLst/>
          </a:prstGeom>
          <a:solidFill>
            <a:srgbClr val="4F5D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922419" y="1057275"/>
            <a:ext cx="685800" cy="133945"/>
          </a:xfrm>
          <a:prstGeom prst="rect">
            <a:avLst/>
          </a:prstGeom>
          <a:noFill/>
          <a:ln/>
        </p:spPr>
        <p:txBody>
          <a:bodyPr wrap="square" lIns="51054" tIns="17018" rIns="51054" bIns="17018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16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Control Object</a:t>
            </a:r>
            <a:endParaRPr lang="en-US" sz="516" dirty="0"/>
          </a:p>
        </p:txBody>
      </p:sp>
      <p:sp>
        <p:nvSpPr>
          <p:cNvPr id="17" name="Text 14"/>
          <p:cNvSpPr/>
          <p:nvPr/>
        </p:nvSpPr>
        <p:spPr>
          <a:xfrm>
            <a:off x="5329238" y="1460897"/>
            <a:ext cx="2693194" cy="97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621" dirty="0">
                <a:solidFill>
                  <a:srgbClr val="BFC0C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.</a:t>
            </a:r>
            <a:endParaRPr lang="en-US" sz="621" dirty="0"/>
          </a:p>
        </p:txBody>
      </p:sp>
      <p:sp>
        <p:nvSpPr>
          <p:cNvPr id="18" name="Text 15"/>
          <p:cNvSpPr/>
          <p:nvPr/>
        </p:nvSpPr>
        <p:spPr>
          <a:xfrm>
            <a:off x="4743450" y="1937742"/>
            <a:ext cx="3864769" cy="107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endParaRPr lang="en-US" sz="621" dirty="0"/>
          </a:p>
        </p:txBody>
      </p:sp>
      <p:sp>
        <p:nvSpPr>
          <p:cNvPr id="19" name="Shape 16"/>
          <p:cNvSpPr/>
          <p:nvPr/>
        </p:nvSpPr>
        <p:spPr>
          <a:xfrm>
            <a:off x="428625" y="3006626"/>
            <a:ext cx="4079081" cy="1881485"/>
          </a:xfrm>
          <a:prstGeom prst="rect">
            <a:avLst/>
          </a:prstGeom>
          <a:solidFill>
            <a:srgbClr val="F8F9FA"/>
          </a:solidFill>
          <a:ln w="9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35781" y="3049488"/>
            <a:ext cx="975122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B433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BUDGET CONTROL</a:t>
            </a:r>
            <a:endParaRPr lang="en-US" sz="784" dirty="0"/>
          </a:p>
        </p:txBody>
      </p:sp>
      <p:sp>
        <p:nvSpPr>
          <p:cNvPr id="21" name="Shape 18"/>
          <p:cNvSpPr/>
          <p:nvPr/>
        </p:nvSpPr>
        <p:spPr>
          <a:xfrm>
            <a:off x="3543300" y="3067348"/>
            <a:ext cx="857250" cy="133945"/>
          </a:xfrm>
          <a:prstGeom prst="rect">
            <a:avLst/>
          </a:prstGeom>
          <a:solidFill>
            <a:srgbClr val="4F5D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3543300" y="3067348"/>
            <a:ext cx="857250" cy="133945"/>
          </a:xfrm>
          <a:prstGeom prst="rect">
            <a:avLst/>
          </a:prstGeom>
          <a:noFill/>
          <a:ln/>
        </p:spPr>
        <p:txBody>
          <a:bodyPr wrap="square" lIns="51054" tIns="17018" rIns="51054" bIns="17018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16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Entity Interaction</a:t>
            </a:r>
            <a:endParaRPr lang="en-US" sz="516" dirty="0"/>
          </a:p>
        </p:txBody>
      </p:sp>
      <p:sp>
        <p:nvSpPr>
          <p:cNvPr id="24" name="Text 21"/>
          <p:cNvSpPr/>
          <p:nvPr/>
        </p:nvSpPr>
        <p:spPr>
          <a:xfrm>
            <a:off x="1199257" y="3470970"/>
            <a:ext cx="2537817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621" dirty="0">
                <a:solidFill>
                  <a:srgbClr val="BFC0C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 INSERT BUDGETS UI MOCK-UP ]
Showing threshold configuration and alert status.</a:t>
            </a:r>
            <a:endParaRPr lang="en-US" sz="621" dirty="0"/>
          </a:p>
        </p:txBody>
      </p:sp>
      <p:sp>
        <p:nvSpPr>
          <p:cNvPr id="25" name="Text 22"/>
          <p:cNvSpPr/>
          <p:nvPr/>
        </p:nvSpPr>
        <p:spPr>
          <a:xfrm>
            <a:off x="535781" y="3947815"/>
            <a:ext cx="3864769" cy="107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endParaRPr lang="en-US" sz="621" dirty="0"/>
          </a:p>
        </p:txBody>
      </p:sp>
      <p:sp>
        <p:nvSpPr>
          <p:cNvPr id="26" name="Shape 23"/>
          <p:cNvSpPr/>
          <p:nvPr/>
        </p:nvSpPr>
        <p:spPr>
          <a:xfrm>
            <a:off x="4636294" y="3006626"/>
            <a:ext cx="4079081" cy="1881485"/>
          </a:xfrm>
          <a:prstGeom prst="rect">
            <a:avLst/>
          </a:prstGeom>
          <a:solidFill>
            <a:srgbClr val="F8F9FA"/>
          </a:solidFill>
          <a:ln w="9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743450" y="3049488"/>
            <a:ext cx="1323380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B433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ANALYTICS DASHBOARD</a:t>
            </a:r>
            <a:endParaRPr lang="en-US" sz="784" dirty="0"/>
          </a:p>
        </p:txBody>
      </p:sp>
      <p:sp>
        <p:nvSpPr>
          <p:cNvPr id="28" name="Shape 25"/>
          <p:cNvSpPr/>
          <p:nvPr/>
        </p:nvSpPr>
        <p:spPr>
          <a:xfrm>
            <a:off x="7922419" y="3067348"/>
            <a:ext cx="685800" cy="133945"/>
          </a:xfrm>
          <a:prstGeom prst="rect">
            <a:avLst/>
          </a:prstGeom>
          <a:solidFill>
            <a:srgbClr val="4F5D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7922419" y="3067348"/>
            <a:ext cx="685800" cy="133945"/>
          </a:xfrm>
          <a:prstGeom prst="rect">
            <a:avLst/>
          </a:prstGeom>
          <a:noFill/>
          <a:ln/>
        </p:spPr>
        <p:txBody>
          <a:bodyPr wrap="square" lIns="51054" tIns="17018" rIns="51054" bIns="17018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16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System Insight</a:t>
            </a:r>
            <a:endParaRPr lang="en-US" sz="516" dirty="0"/>
          </a:p>
        </p:txBody>
      </p:sp>
      <p:sp>
        <p:nvSpPr>
          <p:cNvPr id="31" name="Text 28"/>
          <p:cNvSpPr/>
          <p:nvPr/>
        </p:nvSpPr>
        <p:spPr>
          <a:xfrm>
            <a:off x="5355134" y="3470970"/>
            <a:ext cx="2641402" cy="97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endParaRPr lang="en-US" sz="621" dirty="0"/>
          </a:p>
        </p:txBody>
      </p:sp>
      <p:sp>
        <p:nvSpPr>
          <p:cNvPr id="32" name="Text 29"/>
          <p:cNvSpPr/>
          <p:nvPr/>
        </p:nvSpPr>
        <p:spPr>
          <a:xfrm>
            <a:off x="4743450" y="3947815"/>
            <a:ext cx="3864769" cy="107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endParaRPr lang="en-US" sz="621" dirty="0"/>
          </a:p>
        </p:txBody>
      </p:sp>
      <p:sp>
        <p:nvSpPr>
          <p:cNvPr id="33" name="Text 30"/>
          <p:cNvSpPr/>
          <p:nvPr/>
        </p:nvSpPr>
        <p:spPr>
          <a:xfrm>
            <a:off x="0" y="4888111"/>
            <a:ext cx="9144000" cy="255389"/>
          </a:xfrm>
          <a:prstGeom prst="rect">
            <a:avLst/>
          </a:prstGeom>
          <a:noFill/>
          <a:ln/>
        </p:spPr>
        <p:txBody>
          <a:bodyPr wrap="square" lIns="510286" tIns="68072" rIns="510286" bIns="85090" rtlCol="0" anchor="t">
            <a:spAutoFit/>
          </a:bodyPr>
          <a:lstStyle/>
          <a:p>
            <a:pPr marL="0" indent="0" algn="r">
              <a:lnSpc>
                <a:spcPts val="800"/>
              </a:lnSpc>
              <a:buNone/>
            </a:pPr>
            <a:r>
              <a:rPr lang="en-US" sz="621" dirty="0">
                <a:solidFill>
                  <a:srgbClr val="1B433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Note: UI design follows a modular architecture, separating presentation logic from core financial entities.</a:t>
            </a:r>
            <a:endParaRPr lang="en-US" sz="621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C54B881E-BABD-4EDB-44B6-A05DEAC068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781" y="1478756"/>
            <a:ext cx="3885095" cy="95815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CC103432-E693-6590-3AE1-D2F95A7CCB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781" y="3453442"/>
            <a:ext cx="3611071" cy="892189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1F975A4E-2725-E400-ADDF-5C51F9F133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0328" y="3365019"/>
            <a:ext cx="3693319" cy="127318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E21A9C2F-D574-D628-F259-C2DF3D120C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0328" y="1504961"/>
            <a:ext cx="3647872" cy="90128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71475"/>
            <a:ext cx="8286750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EF835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OPERATIONAL PROTOTYPE</a:t>
            </a:r>
            <a:endParaRPr lang="en-US" sz="727" dirty="0"/>
          </a:p>
        </p:txBody>
      </p:sp>
      <p:sp>
        <p:nvSpPr>
          <p:cNvPr id="4" name="Text 1"/>
          <p:cNvSpPr/>
          <p:nvPr/>
        </p:nvSpPr>
        <p:spPr>
          <a:xfrm>
            <a:off x="428625" y="576858"/>
            <a:ext cx="8286750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kern="0" spc="1" dirty="0">
                <a:solidFill>
                  <a:srgbClr val="1B43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INTELLIGENT SYSTEM CAPABILITIES &amp; ADVANCED FEATURES</a:t>
            </a:r>
            <a:endParaRPr lang="en-US" sz="1602" dirty="0"/>
          </a:p>
        </p:txBody>
      </p:sp>
      <p:sp>
        <p:nvSpPr>
          <p:cNvPr id="5" name="Shape 2"/>
          <p:cNvSpPr/>
          <p:nvPr/>
        </p:nvSpPr>
        <p:spPr>
          <a:xfrm>
            <a:off x="428625" y="1153716"/>
            <a:ext cx="4000500" cy="710412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28625" y="1153716"/>
            <a:ext cx="28575" cy="710412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71500" y="1225153"/>
            <a:ext cx="3714750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B433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REAL-TIME ALERTS SYSTEM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571500" y="1430536"/>
            <a:ext cx="3714750" cy="362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4F5D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Threshold-based monitoring (80% Warning / 100% Exceeded). Implements asynchronous notification dispatch via worker layer. </a:t>
            </a:r>
            <a:r>
              <a:rPr lang="en-US" sz="634" b="1" dirty="0">
                <a:solidFill>
                  <a:srgbClr val="4F5D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Design Justification:</a:t>
            </a:r>
            <a:r>
              <a:rPr lang="en-US" sz="674" dirty="0">
                <a:solidFill>
                  <a:srgbClr val="4F5D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Observer pattern for decoupled event handling.</a:t>
            </a:r>
            <a:endParaRPr lang="en-US" sz="674" dirty="0"/>
          </a:p>
        </p:txBody>
      </p:sp>
      <p:sp>
        <p:nvSpPr>
          <p:cNvPr id="9" name="Shape 6"/>
          <p:cNvSpPr/>
          <p:nvPr/>
        </p:nvSpPr>
        <p:spPr>
          <a:xfrm>
            <a:off x="428625" y="2007003"/>
            <a:ext cx="4000500" cy="710412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28625" y="2007003"/>
            <a:ext cx="28575" cy="710412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71500" y="2078441"/>
            <a:ext cx="3714750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B433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REPORTING ENGINE</a:t>
            </a:r>
            <a:endParaRPr lang="en-US" sz="784" dirty="0"/>
          </a:p>
        </p:txBody>
      </p:sp>
      <p:sp>
        <p:nvSpPr>
          <p:cNvPr id="12" name="Text 9"/>
          <p:cNvSpPr/>
          <p:nvPr/>
        </p:nvSpPr>
        <p:spPr>
          <a:xfrm>
            <a:off x="571500" y="2283823"/>
            <a:ext cx="3714750" cy="362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4F5D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Automated generation of CSV and PDF financial summaries. Leverages background workers for high-latency document processing. </a:t>
            </a:r>
            <a:r>
              <a:rPr lang="en-US" sz="634" b="1" dirty="0">
                <a:solidFill>
                  <a:srgbClr val="4F5D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Design Justification:</a:t>
            </a:r>
            <a:r>
              <a:rPr lang="en-US" sz="674" dirty="0">
                <a:solidFill>
                  <a:srgbClr val="4F5D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Command pattern for encapsulating report generation requests.</a:t>
            </a:r>
            <a:endParaRPr lang="en-US" sz="674" dirty="0"/>
          </a:p>
        </p:txBody>
      </p:sp>
      <p:sp>
        <p:nvSpPr>
          <p:cNvPr id="13" name="Shape 10"/>
          <p:cNvSpPr/>
          <p:nvPr/>
        </p:nvSpPr>
        <p:spPr>
          <a:xfrm>
            <a:off x="428625" y="2860291"/>
            <a:ext cx="4000500" cy="710412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28625" y="2860291"/>
            <a:ext cx="28575" cy="710412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71500" y="2931728"/>
            <a:ext cx="3714750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B433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AI ADVISOR (LLM-INTEGRATED)</a:t>
            </a:r>
            <a:endParaRPr lang="en-US" sz="784" dirty="0"/>
          </a:p>
        </p:txBody>
      </p:sp>
      <p:sp>
        <p:nvSpPr>
          <p:cNvPr id="16" name="Text 13"/>
          <p:cNvSpPr/>
          <p:nvPr/>
        </p:nvSpPr>
        <p:spPr>
          <a:xfrm>
            <a:off x="571500" y="3137111"/>
            <a:ext cx="3714750" cy="362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4F5D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Natural language interface for financial queries. Uses tool-driven insights to query real-time transaction data and provide advice. </a:t>
            </a:r>
            <a:r>
              <a:rPr lang="en-US" sz="634" b="1" dirty="0">
                <a:solidFill>
                  <a:srgbClr val="4F5D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Design Justification:</a:t>
            </a:r>
            <a:r>
              <a:rPr lang="en-US" sz="674" dirty="0">
                <a:solidFill>
                  <a:srgbClr val="4F5D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Facade pattern for simplifying complex LLM interactions and tool orchestration.</a:t>
            </a:r>
            <a:endParaRPr lang="en-US" sz="674" dirty="0"/>
          </a:p>
        </p:txBody>
      </p:sp>
      <p:sp>
        <p:nvSpPr>
          <p:cNvPr id="17" name="Shape 14"/>
          <p:cNvSpPr/>
          <p:nvPr/>
        </p:nvSpPr>
        <p:spPr>
          <a:xfrm>
            <a:off x="428625" y="3713578"/>
            <a:ext cx="4000500" cy="710412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28625" y="3713578"/>
            <a:ext cx="28575" cy="710412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71500" y="3785015"/>
            <a:ext cx="3714750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B433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INVESTMENT RECOMMENDATION ENGINE</a:t>
            </a:r>
            <a:endParaRPr lang="en-US" sz="784" dirty="0"/>
          </a:p>
        </p:txBody>
      </p:sp>
      <p:sp>
        <p:nvSpPr>
          <p:cNvPr id="20" name="Text 17"/>
          <p:cNvSpPr/>
          <p:nvPr/>
        </p:nvSpPr>
        <p:spPr>
          <a:xfrm>
            <a:off x="571500" y="3990398"/>
            <a:ext cx="3714750" cy="362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4F5D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Risk profiling and portfolio allocation logic. Employs Monte Carlo simulations to project future financial outcomes. </a:t>
            </a:r>
            <a:r>
              <a:rPr lang="en-US" sz="634" b="1" dirty="0">
                <a:solidFill>
                  <a:srgbClr val="4F5D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Design Justification:</a:t>
            </a:r>
            <a:r>
              <a:rPr lang="en-US" sz="674" dirty="0">
                <a:solidFill>
                  <a:srgbClr val="4F5D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Strategy pattern for interchangeable risk models and simulation algorithms.</a:t>
            </a:r>
            <a:endParaRPr lang="en-US" sz="674" dirty="0"/>
          </a:p>
        </p:txBody>
      </p:sp>
      <p:sp>
        <p:nvSpPr>
          <p:cNvPr id="21" name="Shape 18"/>
          <p:cNvSpPr/>
          <p:nvPr/>
        </p:nvSpPr>
        <p:spPr>
          <a:xfrm>
            <a:off x="4714875" y="1153716"/>
            <a:ext cx="4000500" cy="3000375"/>
          </a:xfrm>
          <a:prstGeom prst="rect">
            <a:avLst/>
          </a:prstGeom>
          <a:solidFill>
            <a:srgbClr val="1B4332"/>
          </a:solidFill>
          <a:ln w="18288">
            <a:solidFill>
              <a:srgbClr val="EF835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7772400" y="2572643"/>
            <a:ext cx="800100" cy="162520"/>
          </a:xfrm>
          <a:prstGeom prst="rect">
            <a:avLst/>
          </a:prstGeom>
          <a:solidFill>
            <a:srgbClr val="EF8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7772400" y="2572643"/>
            <a:ext cx="800100" cy="162520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16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ADVANCED MODULES</a:t>
            </a:r>
            <a:endParaRPr lang="en-US" sz="516" dirty="0"/>
          </a:p>
        </p:txBody>
      </p:sp>
      <p:sp>
        <p:nvSpPr>
          <p:cNvPr id="24" name="Text 21"/>
          <p:cNvSpPr/>
          <p:nvPr/>
        </p:nvSpPr>
        <p:spPr>
          <a:xfrm>
            <a:off x="4714875" y="2235994"/>
            <a:ext cx="4000500" cy="835819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74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[ INSERT PROTOTYPE SCREENS ]
Visualizing the Advisor Chat Interface, Alert Notifications, and Investment Recommendation Dashboard.</a:t>
            </a:r>
            <a:endParaRPr lang="en-US" sz="674" dirty="0"/>
          </a:p>
        </p:txBody>
      </p:sp>
      <p:sp>
        <p:nvSpPr>
          <p:cNvPr id="25" name="Text 22"/>
          <p:cNvSpPr/>
          <p:nvPr/>
        </p:nvSpPr>
        <p:spPr>
          <a:xfrm>
            <a:off x="428625" y="4830961"/>
            <a:ext cx="4038730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EF835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Key Insight: Moves beyond CRUD → Intelligent System Design</a:t>
            </a:r>
            <a:endParaRPr lang="en-US" sz="784" dirty="0"/>
          </a:p>
        </p:txBody>
      </p:sp>
      <p:sp>
        <p:nvSpPr>
          <p:cNvPr id="26" name="Text 23"/>
          <p:cNvSpPr/>
          <p:nvPr/>
        </p:nvSpPr>
        <p:spPr>
          <a:xfrm>
            <a:off x="6799064" y="4852392"/>
            <a:ext cx="191631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4F5D75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BudgetFlow v1.0 Operational Prototype</a:t>
            </a:r>
            <a:endParaRPr lang="en-US" sz="621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5BAAA049-9269-0D93-C3A7-F0E2B5E4FC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1975" y="2089515"/>
            <a:ext cx="3746300" cy="12912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51371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71475"/>
            <a:ext cx="8286750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EF835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DESIGN IMPLEMENTATION</a:t>
            </a:r>
            <a:endParaRPr lang="en-US" sz="727" dirty="0"/>
          </a:p>
        </p:txBody>
      </p:sp>
      <p:sp>
        <p:nvSpPr>
          <p:cNvPr id="4" name="Text 1"/>
          <p:cNvSpPr/>
          <p:nvPr/>
        </p:nvSpPr>
        <p:spPr>
          <a:xfrm>
            <a:off x="428625" y="576858"/>
            <a:ext cx="8286750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kern="0" spc="1" dirty="0">
                <a:solidFill>
                  <a:srgbClr val="1B43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OO DESIGN PRINCIPLES &amp; ARCHITECTURAL PATTERNS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428625" y="1153716"/>
            <a:ext cx="3171825" cy="212527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B433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CORE PRINCIPLES</a:t>
            </a:r>
            <a:endParaRPr lang="en-US" sz="784" dirty="0"/>
          </a:p>
        </p:txBody>
      </p:sp>
      <p:sp>
        <p:nvSpPr>
          <p:cNvPr id="6" name="Shape 3"/>
          <p:cNvSpPr/>
          <p:nvPr/>
        </p:nvSpPr>
        <p:spPr>
          <a:xfrm>
            <a:off x="428625" y="1509117"/>
            <a:ext cx="3171825" cy="721826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28625" y="1509117"/>
            <a:ext cx="28575" cy="721826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71500" y="1616273"/>
            <a:ext cx="2886075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1B433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Encapsulation</a:t>
            </a:r>
            <a:endParaRPr lang="en-US" sz="734" dirty="0"/>
          </a:p>
        </p:txBody>
      </p:sp>
      <p:sp>
        <p:nvSpPr>
          <p:cNvPr id="9" name="Text 6"/>
          <p:cNvSpPr/>
          <p:nvPr/>
        </p:nvSpPr>
        <p:spPr>
          <a:xfrm>
            <a:off x="571500" y="1810941"/>
            <a:ext cx="2886075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4F5D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Protecting financial entity state (e.g., Transaction amounts, Budget limits) through private attributes and controlled accessors.</a:t>
            </a:r>
            <a:endParaRPr lang="en-US" sz="727" dirty="0"/>
          </a:p>
        </p:txBody>
      </p:sp>
      <p:sp>
        <p:nvSpPr>
          <p:cNvPr id="10" name="Shape 7"/>
          <p:cNvSpPr/>
          <p:nvPr/>
        </p:nvSpPr>
        <p:spPr>
          <a:xfrm>
            <a:off x="428625" y="2338099"/>
            <a:ext cx="3171825" cy="721826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28625" y="2338099"/>
            <a:ext cx="28575" cy="721826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71500" y="2445255"/>
            <a:ext cx="2886075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1B433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Abstraction</a:t>
            </a:r>
            <a:endParaRPr lang="en-US" sz="734" dirty="0"/>
          </a:p>
        </p:txBody>
      </p:sp>
      <p:sp>
        <p:nvSpPr>
          <p:cNvPr id="13" name="Text 10"/>
          <p:cNvSpPr/>
          <p:nvPr/>
        </p:nvSpPr>
        <p:spPr>
          <a:xfrm>
            <a:off x="571500" y="2639923"/>
            <a:ext cx="2886075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4F5D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Defining high-level interfaces for storage and analytics, decoupling the system from specific database or AI implementations.</a:t>
            </a:r>
            <a:endParaRPr lang="en-US" sz="727" dirty="0"/>
          </a:p>
        </p:txBody>
      </p:sp>
      <p:sp>
        <p:nvSpPr>
          <p:cNvPr id="14" name="Shape 11"/>
          <p:cNvSpPr/>
          <p:nvPr/>
        </p:nvSpPr>
        <p:spPr>
          <a:xfrm>
            <a:off x="428625" y="3167081"/>
            <a:ext cx="3171825" cy="581825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28625" y="3167081"/>
            <a:ext cx="28575" cy="581825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71500" y="3274237"/>
            <a:ext cx="2886075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1B433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Separation of Concerns</a:t>
            </a:r>
            <a:endParaRPr lang="en-US" sz="734" dirty="0"/>
          </a:p>
        </p:txBody>
      </p:sp>
      <p:sp>
        <p:nvSpPr>
          <p:cNvPr id="17" name="Text 14"/>
          <p:cNvSpPr/>
          <p:nvPr/>
        </p:nvSpPr>
        <p:spPr>
          <a:xfrm>
            <a:off x="571500" y="3468905"/>
            <a:ext cx="2886075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4F5D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Strictly isolating UI (Boundary), Business Logic (Control), and Data Persistence (Entity) layers.</a:t>
            </a:r>
            <a:endParaRPr lang="en-US" sz="727" dirty="0"/>
          </a:p>
        </p:txBody>
      </p:sp>
      <p:sp>
        <p:nvSpPr>
          <p:cNvPr id="18" name="Shape 15"/>
          <p:cNvSpPr/>
          <p:nvPr/>
        </p:nvSpPr>
        <p:spPr>
          <a:xfrm>
            <a:off x="428625" y="3856062"/>
            <a:ext cx="3171825" cy="721826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28625" y="3856062"/>
            <a:ext cx="28575" cy="721826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71500" y="3963219"/>
            <a:ext cx="2886075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1B433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Single Responsibility (SRP)</a:t>
            </a:r>
            <a:endParaRPr lang="en-US" sz="734" dirty="0"/>
          </a:p>
        </p:txBody>
      </p:sp>
      <p:sp>
        <p:nvSpPr>
          <p:cNvPr id="21" name="Text 18"/>
          <p:cNvSpPr/>
          <p:nvPr/>
        </p:nvSpPr>
        <p:spPr>
          <a:xfrm>
            <a:off x="571500" y="4157886"/>
            <a:ext cx="2886075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4F5D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Each service (e.g., AlertManager) is dedicated to a single functional domain, reducing coupling and increasing testability.</a:t>
            </a:r>
            <a:endParaRPr lang="en-US" sz="727" dirty="0"/>
          </a:p>
        </p:txBody>
      </p:sp>
      <p:sp>
        <p:nvSpPr>
          <p:cNvPr id="22" name="Text 19"/>
          <p:cNvSpPr/>
          <p:nvPr/>
        </p:nvSpPr>
        <p:spPr>
          <a:xfrm>
            <a:off x="3957638" y="1153716"/>
            <a:ext cx="4757738" cy="212527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B433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DESIGN PATTERNS IN PRACTICE</a:t>
            </a:r>
            <a:endParaRPr lang="en-US" sz="784" dirty="0"/>
          </a:p>
        </p:txBody>
      </p:sp>
      <p:sp>
        <p:nvSpPr>
          <p:cNvPr id="23" name="Text 20"/>
          <p:cNvSpPr/>
          <p:nvPr/>
        </p:nvSpPr>
        <p:spPr>
          <a:xfrm>
            <a:off x="3957638" y="1509117"/>
            <a:ext cx="1427299" cy="201811"/>
          </a:xfrm>
          <a:prstGeom prst="rect">
            <a:avLst/>
          </a:prstGeom>
          <a:noFill/>
          <a:ln/>
        </p:spPr>
        <p:txBody>
          <a:bodyPr wrap="square" lIns="0" tIns="0" rIns="0" bIns="85090" rtlCol="0" anchor="ctr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EF835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PATTERN</a:t>
            </a:r>
            <a:endParaRPr lang="en-US" sz="584" dirty="0"/>
          </a:p>
        </p:txBody>
      </p:sp>
      <p:sp>
        <p:nvSpPr>
          <p:cNvPr id="24" name="Text 21"/>
          <p:cNvSpPr/>
          <p:nvPr/>
        </p:nvSpPr>
        <p:spPr>
          <a:xfrm>
            <a:off x="5384936" y="1509117"/>
            <a:ext cx="3330439" cy="201811"/>
          </a:xfrm>
          <a:prstGeom prst="rect">
            <a:avLst/>
          </a:prstGeom>
          <a:noFill/>
          <a:ln/>
        </p:spPr>
        <p:txBody>
          <a:bodyPr wrap="square" lIns="0" tIns="0" rIns="0" bIns="85090" rtlCol="0" anchor="ctr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EF835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SYSTEM IMPLEMENTATION</a:t>
            </a:r>
            <a:endParaRPr lang="en-US" sz="584" dirty="0"/>
          </a:p>
        </p:txBody>
      </p:sp>
      <p:sp>
        <p:nvSpPr>
          <p:cNvPr id="25" name="Text 22"/>
          <p:cNvSpPr/>
          <p:nvPr/>
        </p:nvSpPr>
        <p:spPr>
          <a:xfrm>
            <a:off x="3957638" y="1710928"/>
            <a:ext cx="1427299" cy="618269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1B433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Strategy</a:t>
            </a:r>
            <a:endParaRPr lang="en-US" sz="734" dirty="0"/>
          </a:p>
        </p:txBody>
      </p:sp>
      <p:sp>
        <p:nvSpPr>
          <p:cNvPr id="26" name="Text 23"/>
          <p:cNvSpPr/>
          <p:nvPr/>
        </p:nvSpPr>
        <p:spPr>
          <a:xfrm>
            <a:off x="5384936" y="1821656"/>
            <a:ext cx="333043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Recommendation Engine</a:t>
            </a:r>
            <a:endParaRPr lang="en-US" sz="683" dirty="0"/>
          </a:p>
        </p:txBody>
      </p:sp>
      <p:sp>
        <p:nvSpPr>
          <p:cNvPr id="27" name="Text 24"/>
          <p:cNvSpPr/>
          <p:nvPr/>
        </p:nvSpPr>
        <p:spPr>
          <a:xfrm>
            <a:off x="5384936" y="1977033"/>
            <a:ext cx="3330439" cy="241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4F5D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Swappable algorithms for risk profiling and portfolio allocation based on user budget health.</a:t>
            </a:r>
            <a:endParaRPr lang="en-US" sz="674" dirty="0"/>
          </a:p>
        </p:txBody>
      </p:sp>
      <p:sp>
        <p:nvSpPr>
          <p:cNvPr id="28" name="Text 25"/>
          <p:cNvSpPr/>
          <p:nvPr/>
        </p:nvSpPr>
        <p:spPr>
          <a:xfrm>
            <a:off x="3957638" y="2329197"/>
            <a:ext cx="1427299" cy="618269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1B433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Observer</a:t>
            </a:r>
            <a:endParaRPr lang="en-US" sz="734" dirty="0"/>
          </a:p>
        </p:txBody>
      </p:sp>
      <p:sp>
        <p:nvSpPr>
          <p:cNvPr id="29" name="Text 26"/>
          <p:cNvSpPr/>
          <p:nvPr/>
        </p:nvSpPr>
        <p:spPr>
          <a:xfrm>
            <a:off x="5384936" y="2439925"/>
            <a:ext cx="333043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Alert Triggering System</a:t>
            </a:r>
            <a:endParaRPr lang="en-US" sz="683" dirty="0"/>
          </a:p>
        </p:txBody>
      </p:sp>
      <p:sp>
        <p:nvSpPr>
          <p:cNvPr id="30" name="Text 27"/>
          <p:cNvSpPr/>
          <p:nvPr/>
        </p:nvSpPr>
        <p:spPr>
          <a:xfrm>
            <a:off x="5384936" y="2595302"/>
            <a:ext cx="3330439" cy="241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4F5D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Notifies the notification service automatically when budget thresholds (80%/100%) are breached.</a:t>
            </a:r>
            <a:endParaRPr lang="en-US" sz="674" dirty="0"/>
          </a:p>
        </p:txBody>
      </p:sp>
      <p:sp>
        <p:nvSpPr>
          <p:cNvPr id="31" name="Text 28"/>
          <p:cNvSpPr/>
          <p:nvPr/>
        </p:nvSpPr>
        <p:spPr>
          <a:xfrm>
            <a:off x="3957638" y="2947467"/>
            <a:ext cx="1427299" cy="618269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1B433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Repository</a:t>
            </a:r>
            <a:endParaRPr lang="en-US" sz="734" dirty="0"/>
          </a:p>
        </p:txBody>
      </p:sp>
      <p:sp>
        <p:nvSpPr>
          <p:cNvPr id="32" name="Text 29"/>
          <p:cNvSpPr/>
          <p:nvPr/>
        </p:nvSpPr>
        <p:spPr>
          <a:xfrm>
            <a:off x="5384936" y="3058195"/>
            <a:ext cx="333043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Database Abstraction</a:t>
            </a:r>
            <a:endParaRPr lang="en-US" sz="683" dirty="0"/>
          </a:p>
        </p:txBody>
      </p:sp>
      <p:sp>
        <p:nvSpPr>
          <p:cNvPr id="33" name="Text 30"/>
          <p:cNvSpPr/>
          <p:nvPr/>
        </p:nvSpPr>
        <p:spPr>
          <a:xfrm>
            <a:off x="5384936" y="3213571"/>
            <a:ext cx="3330439" cy="241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4F5D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Decouples domain entities from SQLAlchemy/PostgreSQL implementation details for cleaner testing.</a:t>
            </a:r>
            <a:endParaRPr lang="en-US" sz="674" dirty="0"/>
          </a:p>
        </p:txBody>
      </p:sp>
      <p:sp>
        <p:nvSpPr>
          <p:cNvPr id="34" name="Text 31"/>
          <p:cNvSpPr/>
          <p:nvPr/>
        </p:nvSpPr>
        <p:spPr>
          <a:xfrm>
            <a:off x="3957638" y="3565736"/>
            <a:ext cx="1427299" cy="618269"/>
          </a:xfrm>
          <a:prstGeom prst="rect">
            <a:avLst/>
          </a:prstGeom>
          <a:noFill/>
          <a:ln/>
        </p:spPr>
        <p:txBody>
          <a:bodyPr wrap="square" lIns="0" tIns="127508" rIns="0" bIns="127508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1B433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Adapter</a:t>
            </a:r>
            <a:endParaRPr lang="en-US" sz="734" dirty="0"/>
          </a:p>
        </p:txBody>
      </p:sp>
      <p:sp>
        <p:nvSpPr>
          <p:cNvPr id="35" name="Text 32"/>
          <p:cNvSpPr/>
          <p:nvPr/>
        </p:nvSpPr>
        <p:spPr>
          <a:xfrm>
            <a:off x="5384936" y="3676464"/>
            <a:ext cx="333043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Storage Abstraction</a:t>
            </a:r>
            <a:endParaRPr lang="en-US" sz="683" dirty="0"/>
          </a:p>
        </p:txBody>
      </p:sp>
      <p:sp>
        <p:nvSpPr>
          <p:cNvPr id="36" name="Text 33"/>
          <p:cNvSpPr/>
          <p:nvPr/>
        </p:nvSpPr>
        <p:spPr>
          <a:xfrm>
            <a:off x="5384936" y="3831841"/>
            <a:ext cx="3330439" cy="241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4F5D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Standardizes interfaces for local file storage, S3, and MinIO for generated financial reports.</a:t>
            </a:r>
            <a:endParaRPr lang="en-US" sz="674" dirty="0"/>
          </a:p>
        </p:txBody>
      </p:sp>
      <p:sp>
        <p:nvSpPr>
          <p:cNvPr id="37" name="Shape 34"/>
          <p:cNvSpPr/>
          <p:nvPr/>
        </p:nvSpPr>
        <p:spPr>
          <a:xfrm>
            <a:off x="428625" y="4647464"/>
            <a:ext cx="8286750" cy="400050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5"/>
          <p:cNvSpPr/>
          <p:nvPr/>
        </p:nvSpPr>
        <p:spPr>
          <a:xfrm>
            <a:off x="428625" y="4647464"/>
            <a:ext cx="42863" cy="400050"/>
          </a:xfrm>
          <a:prstGeom prst="rect">
            <a:avLst/>
          </a:prstGeom>
          <a:solidFill>
            <a:srgbClr val="EF8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571500" y="4754620"/>
            <a:ext cx="8001000" cy="292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Key Insight:</a:t>
            </a:r>
            <a:r>
              <a:rPr lang="en-US" sz="834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By adhering to </a:t>
            </a:r>
            <a:r>
              <a:rPr lang="en-US" sz="78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pattern-driven development</a:t>
            </a:r>
            <a:r>
              <a:rPr lang="en-US" sz="834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, BudgetFlow achieves a high degree of extensibility, allowing for the seamless addition of new financial institutions and analytical models.</a:t>
            </a:r>
            <a:endParaRPr lang="en-US" sz="78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00038"/>
            <a:ext cx="8286750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EF835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SYSTEM VALIDATION</a:t>
            </a:r>
            <a:endParaRPr lang="en-US" sz="727" dirty="0"/>
          </a:p>
        </p:txBody>
      </p:sp>
      <p:sp>
        <p:nvSpPr>
          <p:cNvPr id="4" name="Text 1"/>
          <p:cNvSpPr/>
          <p:nvPr/>
        </p:nvSpPr>
        <p:spPr>
          <a:xfrm>
            <a:off x="428625" y="505420"/>
            <a:ext cx="8286750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kern="0" spc="1" dirty="0">
                <a:solidFill>
                  <a:srgbClr val="1B43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TECHNICAL CHALLENGES, SOLUTIONS, AND TESTING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428625" y="939403"/>
            <a:ext cx="4843463" cy="212527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B433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ENGINEERING CHALLENGES &amp; OOAD SOLUTIONS</a:t>
            </a:r>
            <a:endParaRPr lang="en-US" sz="784" dirty="0"/>
          </a:p>
        </p:txBody>
      </p:sp>
      <p:sp>
        <p:nvSpPr>
          <p:cNvPr id="6" name="Shape 3"/>
          <p:cNvSpPr/>
          <p:nvPr/>
        </p:nvSpPr>
        <p:spPr>
          <a:xfrm>
            <a:off x="428625" y="1259086"/>
            <a:ext cx="4843463" cy="97328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28625" y="1259086"/>
            <a:ext cx="28575" cy="973280"/>
          </a:xfrm>
          <a:prstGeom prst="rect">
            <a:avLst/>
          </a:prstGeom>
          <a:solidFill>
            <a:srgbClr val="EF8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35781" y="1330523"/>
            <a:ext cx="4629150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B433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Challenge: Transaction Categorization Accuracy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535781" y="1514475"/>
            <a:ext cx="462915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1B433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OOAD Solution:</a:t>
            </a:r>
            <a:r>
              <a:rPr lang="en-US" sz="674" dirty="0">
                <a:solidFill>
                  <a:srgbClr val="4F5D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Implemented a </a:t>
            </a:r>
            <a:r>
              <a:rPr lang="en-US" sz="634" b="1" dirty="0">
                <a:solidFill>
                  <a:srgbClr val="1B433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Strategy pattern</a:t>
            </a:r>
            <a:r>
              <a:rPr lang="en-US" sz="674" dirty="0">
                <a:solidFill>
                  <a:srgbClr val="4F5D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for categorization, allowing the system to switch between simple regex matching and more complex heuristic rules without altering the core Transaction entity.</a:t>
            </a:r>
            <a:endParaRPr lang="en-US" sz="634" dirty="0"/>
          </a:p>
        </p:txBody>
      </p:sp>
      <p:sp>
        <p:nvSpPr>
          <p:cNvPr id="10" name="Text 7"/>
          <p:cNvSpPr/>
          <p:nvPr/>
        </p:nvSpPr>
        <p:spPr>
          <a:xfrm>
            <a:off x="535781" y="1915920"/>
            <a:ext cx="4629150" cy="245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1B433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Testing Depth:</a:t>
            </a:r>
            <a:r>
              <a:rPr lang="en-US" sz="674" dirty="0">
                <a:solidFill>
                  <a:srgbClr val="4F5D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Unit tests cover 50+ edge-case transaction strings. Integration tests verify correct category assignment and subsequent budget recalculation.</a:t>
            </a:r>
            <a:endParaRPr lang="en-US" sz="634" dirty="0"/>
          </a:p>
        </p:txBody>
      </p:sp>
      <p:sp>
        <p:nvSpPr>
          <p:cNvPr id="11" name="Shape 8"/>
          <p:cNvSpPr/>
          <p:nvPr/>
        </p:nvSpPr>
        <p:spPr>
          <a:xfrm>
            <a:off x="428625" y="2303804"/>
            <a:ext cx="4843463" cy="973280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28625" y="2303804"/>
            <a:ext cx="28575" cy="973280"/>
          </a:xfrm>
          <a:prstGeom prst="rect">
            <a:avLst/>
          </a:prstGeom>
          <a:solidFill>
            <a:srgbClr val="EF8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35781" y="2375241"/>
            <a:ext cx="4629150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B433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Challenge: High-Latency Operations</a:t>
            </a:r>
            <a:endParaRPr lang="en-US" sz="683" dirty="0"/>
          </a:p>
        </p:txBody>
      </p:sp>
      <p:sp>
        <p:nvSpPr>
          <p:cNvPr id="14" name="Text 11"/>
          <p:cNvSpPr/>
          <p:nvPr/>
        </p:nvSpPr>
        <p:spPr>
          <a:xfrm>
            <a:off x="535781" y="2559193"/>
            <a:ext cx="462915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1B433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OOAD Solution:</a:t>
            </a:r>
            <a:r>
              <a:rPr lang="en-US" sz="674" dirty="0">
                <a:solidFill>
                  <a:srgbClr val="4F5D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Introduced an asynchronous </a:t>
            </a:r>
            <a:r>
              <a:rPr lang="en-US" sz="634" b="1" dirty="0">
                <a:solidFill>
                  <a:srgbClr val="1B433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Worker layer (Command pattern)</a:t>
            </a:r>
            <a:r>
              <a:rPr lang="en-US" sz="674" dirty="0">
                <a:solidFill>
                  <a:srgbClr val="4F5D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. The API immediately returns a Job ID, while the worker processes the file and updates the Job State (pending → running → succeeded).</a:t>
            </a:r>
            <a:endParaRPr lang="en-US" sz="634" dirty="0"/>
          </a:p>
        </p:txBody>
      </p:sp>
      <p:sp>
        <p:nvSpPr>
          <p:cNvPr id="15" name="Text 12"/>
          <p:cNvSpPr/>
          <p:nvPr/>
        </p:nvSpPr>
        <p:spPr>
          <a:xfrm>
            <a:off x="535781" y="2960638"/>
            <a:ext cx="4629150" cy="245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1B433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Reliability:</a:t>
            </a:r>
            <a:r>
              <a:rPr lang="en-US" sz="674" dirty="0">
                <a:solidFill>
                  <a:srgbClr val="4F5D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Workers implement exponential backoff for transient failures. Idempotency keys prevent duplicate processing on retries.</a:t>
            </a:r>
            <a:endParaRPr lang="en-US" sz="634" dirty="0"/>
          </a:p>
        </p:txBody>
      </p:sp>
      <p:sp>
        <p:nvSpPr>
          <p:cNvPr id="16" name="Shape 13"/>
          <p:cNvSpPr/>
          <p:nvPr/>
        </p:nvSpPr>
        <p:spPr>
          <a:xfrm>
            <a:off x="428625" y="3348521"/>
            <a:ext cx="4843463" cy="852562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28625" y="3348521"/>
            <a:ext cx="28575" cy="852562"/>
          </a:xfrm>
          <a:prstGeom prst="rect">
            <a:avLst/>
          </a:prstGeom>
          <a:solidFill>
            <a:srgbClr val="EF8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35781" y="3419959"/>
            <a:ext cx="4629150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B433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Challenge: Concurrency &amp; Data Integrity</a:t>
            </a:r>
            <a:endParaRPr lang="en-US" sz="683" dirty="0"/>
          </a:p>
        </p:txBody>
      </p:sp>
      <p:sp>
        <p:nvSpPr>
          <p:cNvPr id="19" name="Text 16"/>
          <p:cNvSpPr/>
          <p:nvPr/>
        </p:nvSpPr>
        <p:spPr>
          <a:xfrm>
            <a:off x="535781" y="3603910"/>
            <a:ext cx="4629150" cy="245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1B433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OOAD Solution:</a:t>
            </a:r>
            <a:r>
              <a:rPr lang="en-US" sz="674" dirty="0">
                <a:solidFill>
                  <a:srgbClr val="4F5D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Leveraged PostgreSQL's </a:t>
            </a:r>
            <a:r>
              <a:rPr lang="en-US" sz="634" b="1" dirty="0">
                <a:solidFill>
                  <a:srgbClr val="1B433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ACID properties</a:t>
            </a:r>
            <a:r>
              <a:rPr lang="en-US" sz="674" dirty="0">
                <a:solidFill>
                  <a:srgbClr val="4F5D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and implemented optimistic concurrency control within the Entity layer to prevent race conditions during budget updates.</a:t>
            </a:r>
            <a:endParaRPr lang="en-US" sz="634" dirty="0"/>
          </a:p>
        </p:txBody>
      </p:sp>
      <p:sp>
        <p:nvSpPr>
          <p:cNvPr id="20" name="Text 17"/>
          <p:cNvSpPr/>
          <p:nvPr/>
        </p:nvSpPr>
        <p:spPr>
          <a:xfrm>
            <a:off x="535781" y="3884637"/>
            <a:ext cx="4629150" cy="2450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1B433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Testing Depth:</a:t>
            </a:r>
            <a:r>
              <a:rPr lang="en-US" sz="674" dirty="0">
                <a:solidFill>
                  <a:srgbClr val="4F5D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Load testing with 100+ concurrent requests verified zero data anomalies or lost updates under stress.</a:t>
            </a:r>
            <a:endParaRPr lang="en-US" sz="634" dirty="0"/>
          </a:p>
        </p:txBody>
      </p:sp>
      <p:sp>
        <p:nvSpPr>
          <p:cNvPr id="21" name="Text 18"/>
          <p:cNvSpPr/>
          <p:nvPr/>
        </p:nvSpPr>
        <p:spPr>
          <a:xfrm>
            <a:off x="5486400" y="939403"/>
            <a:ext cx="3228975" cy="212527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B433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VALIDATION EVIDENCE</a:t>
            </a:r>
            <a:endParaRPr lang="en-US" sz="784" dirty="0"/>
          </a:p>
        </p:txBody>
      </p:sp>
      <p:sp>
        <p:nvSpPr>
          <p:cNvPr id="22" name="Shape 19"/>
          <p:cNvSpPr/>
          <p:nvPr/>
        </p:nvSpPr>
        <p:spPr>
          <a:xfrm>
            <a:off x="5486400" y="1259086"/>
            <a:ext cx="3228975" cy="880467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629275" y="1401961"/>
            <a:ext cx="2943225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862" b="1" dirty="0">
                <a:solidFill>
                  <a:srgbClr val="EF835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100+</a:t>
            </a:r>
            <a:endParaRPr lang="en-US" sz="2862" dirty="0"/>
          </a:p>
        </p:txBody>
      </p:sp>
      <p:sp>
        <p:nvSpPr>
          <p:cNvPr id="24" name="Text 21"/>
          <p:cNvSpPr/>
          <p:nvPr/>
        </p:nvSpPr>
        <p:spPr>
          <a:xfrm>
            <a:off x="5629275" y="1859161"/>
            <a:ext cx="2943225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74" kern="0" spc="2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BACKEND TESTS PASSING</a:t>
            </a:r>
            <a:endParaRPr lang="en-US" sz="674" dirty="0"/>
          </a:p>
        </p:txBody>
      </p:sp>
      <p:sp>
        <p:nvSpPr>
          <p:cNvPr id="25" name="Text 22"/>
          <p:cNvSpPr/>
          <p:nvPr/>
        </p:nvSpPr>
        <p:spPr>
          <a:xfrm>
            <a:off x="5486400" y="2282428"/>
            <a:ext cx="3228975" cy="300038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Unit Testing:</a:t>
            </a:r>
            <a:r>
              <a:rPr lang="en-US" sz="727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Full coverage of core domain entity logic and state transitions.</a:t>
            </a:r>
            <a:endParaRPr lang="en-US" sz="683" dirty="0"/>
          </a:p>
        </p:txBody>
      </p:sp>
      <p:sp>
        <p:nvSpPr>
          <p:cNvPr id="26" name="Text 23"/>
          <p:cNvSpPr/>
          <p:nvPr/>
        </p:nvSpPr>
        <p:spPr>
          <a:xfrm>
            <a:off x="5486400" y="2668191"/>
            <a:ext cx="3228975" cy="300038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Integration Testing:</a:t>
            </a:r>
            <a:r>
              <a:rPr lang="en-US" sz="727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Validated end-to-end flows from CSV import to analytics update.</a:t>
            </a:r>
            <a:endParaRPr lang="en-US" sz="683" dirty="0"/>
          </a:p>
        </p:txBody>
      </p:sp>
      <p:sp>
        <p:nvSpPr>
          <p:cNvPr id="27" name="Text 24"/>
          <p:cNvSpPr/>
          <p:nvPr/>
        </p:nvSpPr>
        <p:spPr>
          <a:xfrm>
            <a:off x="5486400" y="3053953"/>
            <a:ext cx="3228975" cy="300038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System Validation:</a:t>
            </a:r>
            <a:r>
              <a:rPr lang="en-US" sz="727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Verified 80% and 100% budget alert triggers across multiple user scenarios.</a:t>
            </a:r>
            <a:endParaRPr lang="en-US" sz="683" dirty="0"/>
          </a:p>
        </p:txBody>
      </p:sp>
      <p:sp>
        <p:nvSpPr>
          <p:cNvPr id="28" name="Text 25"/>
          <p:cNvSpPr/>
          <p:nvPr/>
        </p:nvSpPr>
        <p:spPr>
          <a:xfrm>
            <a:off x="5486400" y="2282428"/>
            <a:ext cx="8393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F835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✓</a:t>
            </a:r>
            <a:endParaRPr lang="en-US" sz="683" dirty="0"/>
          </a:p>
        </p:txBody>
      </p:sp>
      <p:sp>
        <p:nvSpPr>
          <p:cNvPr id="29" name="Text 26"/>
          <p:cNvSpPr/>
          <p:nvPr/>
        </p:nvSpPr>
        <p:spPr>
          <a:xfrm>
            <a:off x="5486400" y="2668191"/>
            <a:ext cx="8393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F835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✓</a:t>
            </a:r>
            <a:endParaRPr lang="en-US" sz="683" dirty="0"/>
          </a:p>
        </p:txBody>
      </p:sp>
      <p:sp>
        <p:nvSpPr>
          <p:cNvPr id="30" name="Text 27"/>
          <p:cNvSpPr/>
          <p:nvPr/>
        </p:nvSpPr>
        <p:spPr>
          <a:xfrm>
            <a:off x="5486400" y="3053953"/>
            <a:ext cx="8393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F835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✓</a:t>
            </a:r>
            <a:endParaRPr lang="en-US" sz="683" dirty="0"/>
          </a:p>
        </p:txBody>
      </p:sp>
      <p:sp>
        <p:nvSpPr>
          <p:cNvPr id="31" name="Shape 28"/>
          <p:cNvSpPr/>
          <p:nvPr/>
        </p:nvSpPr>
        <p:spPr>
          <a:xfrm>
            <a:off x="428625" y="4568428"/>
            <a:ext cx="8286750" cy="432197"/>
          </a:xfrm>
          <a:prstGeom prst="rect">
            <a:avLst/>
          </a:prstGeom>
          <a:solidFill>
            <a:srgbClr val="F8F9FA"/>
          </a:solidFill>
          <a:ln w="9144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535781" y="4654153"/>
            <a:ext cx="8072438" cy="275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Key Insight:</a:t>
            </a:r>
            <a:r>
              <a:rPr lang="en-US" sz="780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Rigorous automated testing and a pattern-driven approach to conflict resolution ensure that BudgetFlow maintains </a:t>
            </a:r>
            <a:r>
              <a:rPr lang="en-US" sz="734" b="1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high reliability and data correctness</a:t>
            </a:r>
            <a:r>
              <a:rPr lang="en-US" sz="780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in a production-grade environment.</a:t>
            </a:r>
            <a:endParaRPr lang="en-US" sz="734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00038"/>
            <a:ext cx="8286750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EF835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CONCLUSION</a:t>
            </a:r>
            <a:endParaRPr lang="en-US" sz="727" dirty="0"/>
          </a:p>
        </p:txBody>
      </p:sp>
      <p:sp>
        <p:nvSpPr>
          <p:cNvPr id="4" name="Text 1"/>
          <p:cNvSpPr/>
          <p:nvPr/>
        </p:nvSpPr>
        <p:spPr>
          <a:xfrm>
            <a:off x="428625" y="505420"/>
            <a:ext cx="8286750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kern="0" spc="1" dirty="0">
                <a:solidFill>
                  <a:srgbClr val="1B433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OOAD LIFECYCLE ACHIEVEMENTS &amp; TECHNICAL SUMMARY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428625" y="939403"/>
            <a:ext cx="4000500" cy="212527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B433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PROJECT ACHIEVEMENTS</a:t>
            </a:r>
            <a:endParaRPr lang="en-US" sz="784" dirty="0"/>
          </a:p>
        </p:txBody>
      </p:sp>
      <p:sp>
        <p:nvSpPr>
          <p:cNvPr id="6" name="Text 3"/>
          <p:cNvSpPr/>
          <p:nvPr/>
        </p:nvSpPr>
        <p:spPr>
          <a:xfrm>
            <a:off x="564356" y="1259086"/>
            <a:ext cx="3864769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B433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Full OOAD Lifecycle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564356" y="1450181"/>
            <a:ext cx="3864769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27" dirty="0">
                <a:solidFill>
                  <a:srgbClr val="4F5D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Successful transformation from Requirements Modeling to Analysis, Design, and Implementation.</a:t>
            </a:r>
            <a:endParaRPr lang="en-US" sz="727" dirty="0"/>
          </a:p>
        </p:txBody>
      </p:sp>
      <p:sp>
        <p:nvSpPr>
          <p:cNvPr id="8" name="Text 5"/>
          <p:cNvSpPr/>
          <p:nvPr/>
        </p:nvSpPr>
        <p:spPr>
          <a:xfrm>
            <a:off x="564356" y="1817359"/>
            <a:ext cx="3864769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B433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Rigorous UML Modeling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564356" y="2008454"/>
            <a:ext cx="3864769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27" dirty="0">
                <a:solidFill>
                  <a:srgbClr val="4F5D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Complete structural and behavioral modeling ensuring architectural integrity and system reliability.</a:t>
            </a:r>
            <a:endParaRPr lang="en-US" sz="727" dirty="0"/>
          </a:p>
        </p:txBody>
      </p:sp>
      <p:sp>
        <p:nvSpPr>
          <p:cNvPr id="10" name="Text 7"/>
          <p:cNvSpPr/>
          <p:nvPr/>
        </p:nvSpPr>
        <p:spPr>
          <a:xfrm>
            <a:off x="564356" y="2375632"/>
            <a:ext cx="3864769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B4332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Operational Full-Stack System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564356" y="2566727"/>
            <a:ext cx="3864769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27" dirty="0">
                <a:solidFill>
                  <a:srgbClr val="4F5D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working prototype integrating Next.js, FastAPI, and PostgreSQL with advanced AI-driven capabilities.</a:t>
            </a:r>
            <a:endParaRPr lang="en-US" sz="727" dirty="0"/>
          </a:p>
        </p:txBody>
      </p:sp>
      <p:sp>
        <p:nvSpPr>
          <p:cNvPr id="12" name="Shape 9"/>
          <p:cNvSpPr/>
          <p:nvPr/>
        </p:nvSpPr>
        <p:spPr>
          <a:xfrm>
            <a:off x="4714875" y="939403"/>
            <a:ext cx="4000500" cy="1730573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714875" y="939403"/>
            <a:ext cx="4000500" cy="21431"/>
          </a:xfrm>
          <a:prstGeom prst="rect">
            <a:avLst/>
          </a:prstGeom>
          <a:solidFill>
            <a:srgbClr val="EF83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857750" y="1046559"/>
            <a:ext cx="3714750" cy="158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EF8354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Technical Summary</a:t>
            </a:r>
            <a:endParaRPr lang="en-US" sz="734" dirty="0"/>
          </a:p>
        </p:txBody>
      </p:sp>
      <p:sp>
        <p:nvSpPr>
          <p:cNvPr id="15" name="Text 12"/>
          <p:cNvSpPr/>
          <p:nvPr/>
        </p:nvSpPr>
        <p:spPr>
          <a:xfrm>
            <a:off x="4857750" y="1262658"/>
            <a:ext cx="3714750" cy="30003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Pattern-Driven:</a:t>
            </a:r>
            <a:r>
              <a:rPr lang="en-US" sz="727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Systematic application of Strategy, Observer, and Command patterns.</a:t>
            </a:r>
            <a:endParaRPr lang="en-US" sz="683" dirty="0"/>
          </a:p>
        </p:txBody>
      </p:sp>
      <p:sp>
        <p:nvSpPr>
          <p:cNvPr id="16" name="Text 13"/>
          <p:cNvSpPr/>
          <p:nvPr/>
        </p:nvSpPr>
        <p:spPr>
          <a:xfrm>
            <a:off x="4857750" y="1619845"/>
            <a:ext cx="3714750" cy="15001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Validation Rigor:</a:t>
            </a:r>
            <a:r>
              <a:rPr lang="en-US" sz="727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100+ tests ensuring reliability and data correctness.</a:t>
            </a:r>
            <a:endParaRPr lang="en-US" sz="683" dirty="0"/>
          </a:p>
        </p:txBody>
      </p:sp>
      <p:sp>
        <p:nvSpPr>
          <p:cNvPr id="17" name="Text 14"/>
          <p:cNvSpPr/>
          <p:nvPr/>
        </p:nvSpPr>
        <p:spPr>
          <a:xfrm>
            <a:off x="4857750" y="1827014"/>
            <a:ext cx="3714750" cy="30003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Intelligent Architecture:</a:t>
            </a:r>
            <a:r>
              <a:rPr lang="en-US" sz="727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Decoupled LLM and analytics services for future-proof growth.</a:t>
            </a:r>
            <a:endParaRPr lang="en-US" sz="683" dirty="0"/>
          </a:p>
        </p:txBody>
      </p:sp>
      <p:sp>
        <p:nvSpPr>
          <p:cNvPr id="18" name="Text 15"/>
          <p:cNvSpPr/>
          <p:nvPr/>
        </p:nvSpPr>
        <p:spPr>
          <a:xfrm>
            <a:off x="4857750" y="2184202"/>
            <a:ext cx="3714750" cy="30003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Production Ready:</a:t>
            </a:r>
            <a:r>
              <a:rPr lang="en-US" sz="727" dirty="0">
                <a:solidFill>
                  <a:srgbClr val="2D314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Fully implemented system with real-world engineering depth.</a:t>
            </a:r>
            <a:endParaRPr lang="en-US" sz="683" dirty="0"/>
          </a:p>
        </p:txBody>
      </p:sp>
      <p:sp>
        <p:nvSpPr>
          <p:cNvPr id="19" name="Shape 16"/>
          <p:cNvSpPr/>
          <p:nvPr/>
        </p:nvSpPr>
        <p:spPr>
          <a:xfrm>
            <a:off x="0" y="4584502"/>
            <a:ext cx="9144000" cy="558998"/>
          </a:xfrm>
          <a:prstGeom prst="rect">
            <a:avLst/>
          </a:prstGeom>
          <a:solidFill>
            <a:srgbClr val="1B43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857750" y="1262658"/>
            <a:ext cx="3929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F835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•</a:t>
            </a:r>
            <a:endParaRPr lang="en-US" sz="683" dirty="0"/>
          </a:p>
        </p:txBody>
      </p:sp>
      <p:sp>
        <p:nvSpPr>
          <p:cNvPr id="21" name="Text 18"/>
          <p:cNvSpPr/>
          <p:nvPr/>
        </p:nvSpPr>
        <p:spPr>
          <a:xfrm>
            <a:off x="4857750" y="1619845"/>
            <a:ext cx="3929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F835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•</a:t>
            </a:r>
            <a:endParaRPr lang="en-US" sz="683" dirty="0"/>
          </a:p>
        </p:txBody>
      </p:sp>
      <p:sp>
        <p:nvSpPr>
          <p:cNvPr id="22" name="Text 19"/>
          <p:cNvSpPr/>
          <p:nvPr/>
        </p:nvSpPr>
        <p:spPr>
          <a:xfrm>
            <a:off x="4857750" y="1827014"/>
            <a:ext cx="3929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F835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•</a:t>
            </a:r>
            <a:endParaRPr lang="en-US" sz="683" dirty="0"/>
          </a:p>
        </p:txBody>
      </p:sp>
      <p:sp>
        <p:nvSpPr>
          <p:cNvPr id="23" name="Text 20"/>
          <p:cNvSpPr/>
          <p:nvPr/>
        </p:nvSpPr>
        <p:spPr>
          <a:xfrm>
            <a:off x="4857750" y="2184202"/>
            <a:ext cx="3929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EF835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•</a:t>
            </a:r>
            <a:endParaRPr lang="en-US" sz="683" dirty="0"/>
          </a:p>
        </p:txBody>
      </p:sp>
      <p:sp>
        <p:nvSpPr>
          <p:cNvPr id="24" name="Text 21"/>
          <p:cNvSpPr/>
          <p:nvPr/>
        </p:nvSpPr>
        <p:spPr>
          <a:xfrm>
            <a:off x="428625" y="4727377"/>
            <a:ext cx="3932634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EF835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BudgetFlow: Intelligent Design, Measurable Control.</a:t>
            </a:r>
            <a:endParaRPr lang="en-US" sz="1090" dirty="0"/>
          </a:p>
        </p:txBody>
      </p:sp>
      <p:sp>
        <p:nvSpPr>
          <p:cNvPr id="25" name="Text 22"/>
          <p:cNvSpPr/>
          <p:nvPr/>
        </p:nvSpPr>
        <p:spPr>
          <a:xfrm>
            <a:off x="6372225" y="4759523"/>
            <a:ext cx="234315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BFC0C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Questions? | CSCI 6234 Final Presentation</a:t>
            </a:r>
            <a:endParaRPr lang="en-US" sz="67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1088</TotalTime>
  <Words>1956</Words>
  <Application>Microsoft Macintosh PowerPoint</Application>
  <PresentationFormat>On-screen Show (16:9)</PresentationFormat>
  <Paragraphs>346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monospace</vt:lpstr>
      <vt:lpstr>Space Grotesk</vt:lpstr>
      <vt:lpstr>Space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KARAN PATEL2 - 70321018113</cp:lastModifiedBy>
  <cp:revision>2</cp:revision>
  <dcterms:created xsi:type="dcterms:W3CDTF">2026-04-16T22:40:29Z</dcterms:created>
  <dcterms:modified xsi:type="dcterms:W3CDTF">2026-04-21T18:50:22Z</dcterms:modified>
</cp:coreProperties>
</file>